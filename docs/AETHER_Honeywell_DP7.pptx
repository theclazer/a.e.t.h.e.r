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7624" y="493776"/>
            <a:ext cx="621792" cy="438912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1944" y="676656"/>
            <a:ext cx="73152" cy="73152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01/07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7315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A.E.T.H.E.R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16642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5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Integrity-Aware Visual-Inertial Odometry for a GPS-denied indoor drone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75320" y="713232"/>
            <a:ext cx="34107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822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   </a:t>
            </a:r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Rayyan · Ashitha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    </a:t>
            </a:r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2nd-year · CSE/ECE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 </a:t>
            </a:r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Jun 2026 (design)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 </a:t>
            </a:r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Jun 2026 (3-hr)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  </a:t>
            </a:r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Honeywell × RVCE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2395728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879054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362379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845705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329031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812357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95682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779008"/>
            <a:ext cx="73152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2578608"/>
            <a:ext cx="7315200" cy="109728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48640" y="4498848"/>
            <a:ext cx="7315200" cy="109728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087368"/>
            <a:ext cx="182880" cy="123944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31520" y="4211312"/>
            <a:ext cx="182880" cy="121471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14400" y="4332783"/>
            <a:ext cx="182880" cy="116574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097280" y="4449358"/>
            <a:ext cx="182880" cy="109352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280160" y="4558710"/>
            <a:ext cx="182880" cy="9994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463040" y="4658657"/>
            <a:ext cx="182880" cy="88549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645920" y="4747205"/>
            <a:ext cx="182880" cy="75383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828800" y="4822588"/>
            <a:ext cx="182880" cy="60713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2011680" y="4883302"/>
            <a:ext cx="182880" cy="44832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194560" y="4928134"/>
            <a:ext cx="182880" cy="2805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377440" y="4956191"/>
            <a:ext cx="182880" cy="10721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2560320" y="4960084"/>
            <a:ext cx="182880" cy="6828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2743200" y="4935844"/>
            <a:ext cx="182880" cy="24241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2926080" y="4894673"/>
            <a:ext cx="182880" cy="41170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3108960" y="4837395"/>
            <a:ext cx="182880" cy="57278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3291840" y="4765152"/>
            <a:ext cx="182880" cy="72243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 flipV="1">
            <a:off x="3474720" y="4679385"/>
            <a:ext cx="182880" cy="8576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flipV="1">
            <a:off x="3657600" y="4581806"/>
            <a:ext cx="182880" cy="97579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 flipV="1">
            <a:off x="3840480" y="4474362"/>
            <a:ext cx="182880" cy="107444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flipV="1">
            <a:off x="4023360" y="4359196"/>
            <a:ext cx="182880" cy="115166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 flipV="1">
            <a:off x="4206240" y="4238606"/>
            <a:ext cx="182880" cy="120590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V="1">
            <a:off x="4389120" y="4114999"/>
            <a:ext cx="182880" cy="12360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 flipV="1">
            <a:off x="4572000" y="3990840"/>
            <a:ext cx="182880" cy="124159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V="1">
            <a:off x="4754880" y="3868607"/>
            <a:ext cx="182880" cy="122233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V="1">
            <a:off x="4937760" y="3750739"/>
            <a:ext cx="182880" cy="117868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flipV="1">
            <a:off x="5120640" y="3639588"/>
            <a:ext cx="182880" cy="111151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5303520" y="3537372"/>
            <a:ext cx="182880" cy="10221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 flipV="1">
            <a:off x="5486400" y="3446129"/>
            <a:ext cx="182880" cy="91243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V="1">
            <a:off x="5669280" y="3367680"/>
            <a:ext cx="182880" cy="78448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V="1">
            <a:off x="5852160" y="3303592"/>
            <a:ext cx="182880" cy="64089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V="1">
            <a:off x="6035040" y="3255141"/>
            <a:ext cx="182880" cy="48450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6217920" y="3223296"/>
            <a:ext cx="182880" cy="31845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V="1">
            <a:off x="6400800" y="3208692"/>
            <a:ext cx="182880" cy="14605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6583680" y="3208692"/>
            <a:ext cx="182880" cy="292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6766560" y="3211619"/>
            <a:ext cx="182880" cy="20401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949440" y="3232020"/>
            <a:ext cx="182880" cy="37467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7132320" y="3269488"/>
            <a:ext cx="182880" cy="53786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7315200" y="3323274"/>
            <a:ext cx="182880" cy="69032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7498080" y="3392306"/>
            <a:ext cx="182880" cy="82900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7680960" y="3475206"/>
            <a:ext cx="182880" cy="95115"/>
          </a:xfrm>
          <a:prstGeom prst="line">
            <a:avLst/>
          </a:prstGeom>
          <a:noFill/>
          <a:ln w="19050">
            <a:solidFill>
              <a:srgbClr val="1B2A36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548640" y="4087368"/>
            <a:ext cx="182880" cy="132139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0" y="4219507"/>
            <a:ext cx="182880" cy="129460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0" y="4348968"/>
            <a:ext cx="182880" cy="124163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97280" y="4473130"/>
            <a:ext cx="182880" cy="116364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4589494"/>
            <a:ext cx="182880" cy="10623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63040" y="4695731"/>
            <a:ext cx="182880" cy="9400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45920" y="4789738"/>
            <a:ext cx="182880" cy="7994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28800" y="4869680"/>
            <a:ext cx="182880" cy="64350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0" y="4934030"/>
            <a:ext cx="182880" cy="47571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4981601"/>
            <a:ext cx="182880" cy="2996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77440" y="5011568"/>
            <a:ext cx="182880" cy="1191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2560320" y="5017278"/>
            <a:ext cx="182880" cy="620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2743200" y="4993266"/>
            <a:ext cx="182880" cy="2401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2926080" y="4952127"/>
            <a:ext cx="182880" cy="41139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3108960" y="4894887"/>
            <a:ext cx="182880" cy="57239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291840" y="4822896"/>
            <a:ext cx="182880" cy="71991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3474720" y="4737789"/>
            <a:ext cx="182880" cy="8510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3657600" y="4641452"/>
            <a:ext cx="182880" cy="9633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3840480" y="4535977"/>
            <a:ext cx="182880" cy="105476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4023360" y="4423615"/>
            <a:ext cx="182880" cy="11236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206240" y="4306730"/>
            <a:ext cx="182880" cy="116884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4389120" y="4187750"/>
            <a:ext cx="182880" cy="118980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4572000" y="4069115"/>
            <a:ext cx="182880" cy="11863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4754880" y="3953230"/>
            <a:ext cx="182880" cy="115884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4937760" y="3842423"/>
            <a:ext cx="182880" cy="11080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5120640" y="3738896"/>
            <a:ext cx="182880" cy="103527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5303520" y="3644691"/>
            <a:ext cx="182880" cy="9420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5486400" y="3561651"/>
            <a:ext cx="182880" cy="83041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669280" y="3491389"/>
            <a:ext cx="182880" cy="7026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5852160" y="3435266"/>
            <a:ext cx="182880" cy="56123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6035040" y="3394367"/>
            <a:ext cx="182880" cy="40899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6217920" y="3369484"/>
            <a:ext cx="182880" cy="2488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6400800" y="3361111"/>
            <a:ext cx="182880" cy="8373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83680" y="3361111"/>
            <a:ext cx="182880" cy="8320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766560" y="3369431"/>
            <a:ext cx="182880" cy="24891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949440" y="3394322"/>
            <a:ext cx="182880" cy="41036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132320" y="3435358"/>
            <a:ext cx="182880" cy="56460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15200" y="3491818"/>
            <a:ext cx="182880" cy="7088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98080" y="3562703"/>
            <a:ext cx="182880" cy="84045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680960" y="3646748"/>
            <a:ext cx="182880" cy="95702"/>
          </a:xfrm>
          <a:prstGeom prst="line">
            <a:avLst/>
          </a:prstGeom>
          <a:noFill/>
          <a:ln w="25400">
            <a:solidFill>
              <a:srgbClr val="2E5F8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918704" y="3570321"/>
            <a:ext cx="0" cy="172129"/>
          </a:xfrm>
          <a:prstGeom prst="line">
            <a:avLst/>
          </a:prstGeom>
          <a:noFill/>
          <a:ln w="12700">
            <a:solidFill>
              <a:srgbClr val="C42A1C"/>
            </a:solidFill>
            <a:prstDash val="solid"/>
            <a:headEnd type="triangle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7040880" y="3546657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3.0 m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166360" y="3250755"/>
            <a:ext cx="1005840" cy="621792"/>
          </a:xfrm>
          <a:prstGeom prst="ellipse">
            <a:avLst/>
          </a:prstGeom>
          <a:solidFill>
            <a:srgbClr val="2E5F84">
              <a:alpha val="0"/>
            </a:srgbClr>
          </a:solidFill>
          <a:ln w="19050">
            <a:solidFill>
              <a:srgbClr val="2E5F8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632704" y="3409553"/>
            <a:ext cx="73152" cy="73152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124" name="Text 122"/>
          <p:cNvSpPr/>
          <p:nvPr/>
        </p:nvSpPr>
        <p:spPr>
          <a:xfrm>
            <a:off x="5166360" y="299472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  k=2.45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640080" y="58338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—— </a:t>
            </a:r>
            <a:pPr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 estimate    </a:t>
            </a:r>
            <a:pPr indent="0" marL="0">
              <a:buNone/>
            </a:pPr>
            <a:r>
              <a:rPr lang="en-US" sz="8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– </a:t>
            </a:r>
            <a:pPr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    </a:t>
            </a:r>
            <a:pPr indent="0" marL="0">
              <a:buNone/>
            </a:pPr>
            <a:r>
              <a:rPr lang="en-US" sz="850" b="1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◯ </a:t>
            </a:r>
            <a:pPr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bound · </a:t>
            </a:r>
            <a:pPr indent="0" marL="0">
              <a:buNone/>
            </a:pPr>
            <a:r>
              <a:rPr lang="en-US" sz="8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position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8275320" y="2395728"/>
            <a:ext cx="34107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449056" y="2542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449056" y="285292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“When the camera dies, our drift bound still covers the true position 95%+ of the time — and we know within half a second.”</a:t>
            </a:r>
            <a:endParaRPr lang="en-US" sz="1550" dirty="0"/>
          </a:p>
        </p:txBody>
      </p:sp>
      <p:sp>
        <p:nvSpPr>
          <p:cNvPr id="129" name="Text 127"/>
          <p:cNvSpPr/>
          <p:nvPr/>
        </p:nvSpPr>
        <p:spPr>
          <a:xfrm>
            <a:off x="8449056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open-source, student-scale instantiation of Honeywell's HANA resilient-PNT philosophy — RAIM, for the vision aid.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1/7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6400800" y="6437376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/ TARGET — 8 JUN DESIGN PROPOSAL, NOT MEASURED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7624" y="493776"/>
            <a:ext cx="621792" cy="438912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1944" y="676656"/>
            <a:ext cx="73152" cy="73152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02/07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reframed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1170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DP7 is an Assured-PNT problem — not a SLAM exercise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627632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DP7 SPEC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197510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GNSS-denied tunnel/warehouse · drift &lt; 1.5% / 200 m · ROS2 + Gazebo · estimate-vs-GT report · documented ROS2 workspace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“Everyone can plot a trajectory. The unsolved question is — how wrong am I right now, and do I know it in time?”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FLOOR IS A FLOOR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67258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stereo-inertial VIO already clears 1.5% in sim (~0.1–0.3% drift). 80–90% of teams hit it. We own the regime where that number quietly breaks — and prove our bound stays honest through it.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5179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Fig. 2 — translational drift vs distance  [KITTI seg-RPE]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611880"/>
            <a:ext cx="6400800" cy="1828800"/>
          </a:xfrm>
          <a:prstGeom prst="rect">
            <a:avLst/>
          </a:prstGeom>
          <a:solidFill>
            <a:srgbClr val="E7F0E9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38560" y="1783080"/>
            <a:ext cx="0" cy="365760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17830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3926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0022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36118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42214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48310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5440680"/>
            <a:ext cx="64008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1783080"/>
            <a:ext cx="0" cy="3657600"/>
          </a:xfrm>
          <a:prstGeom prst="line">
            <a:avLst/>
          </a:prstGeom>
          <a:noFill/>
          <a:ln w="12700">
            <a:solidFill>
              <a:srgbClr val="1B2A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5440680"/>
            <a:ext cx="6400800" cy="0"/>
          </a:xfrm>
          <a:prstGeom prst="line">
            <a:avLst/>
          </a:prstGeom>
          <a:noFill/>
          <a:ln w="12700">
            <a:solidFill>
              <a:srgbClr val="1B2A3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3611880"/>
            <a:ext cx="6400800" cy="0"/>
          </a:xfrm>
          <a:prstGeom prst="line">
            <a:avLst/>
          </a:prstGeom>
          <a:noFill/>
          <a:ln w="22225">
            <a:solidFill>
              <a:srgbClr val="C42A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33741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1.5 % limit  (= 3.0 m @ 200 m)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 flipV="1">
            <a:off x="4937760" y="5321712"/>
            <a:ext cx="213360" cy="118968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151120" y="5211157"/>
            <a:ext cx="213360" cy="110556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364480" y="5108419"/>
            <a:ext cx="213360" cy="102738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577840" y="5012945"/>
            <a:ext cx="213360" cy="95474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791200" y="4924222"/>
            <a:ext cx="213360" cy="88723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004560" y="4841773"/>
            <a:ext cx="213360" cy="82449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217920" y="4765153"/>
            <a:ext cx="213360" cy="76619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431280" y="4693951"/>
            <a:ext cx="213360" cy="71202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644640" y="4627784"/>
            <a:ext cx="213360" cy="66167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858000" y="4566296"/>
            <a:ext cx="213360" cy="61489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7071360" y="4509155"/>
            <a:ext cx="213360" cy="57141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7284720" y="4456055"/>
            <a:ext cx="213360" cy="53100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7498080" y="4406709"/>
            <a:ext cx="213360" cy="49346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7711440" y="4360852"/>
            <a:ext cx="213360" cy="45857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7924800" y="4318238"/>
            <a:ext cx="213360" cy="42614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8138160" y="4278637"/>
            <a:ext cx="213360" cy="39601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351520" y="4241837"/>
            <a:ext cx="213360" cy="36801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8564880" y="4207638"/>
            <a:ext cx="213360" cy="34199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8778240" y="4175858"/>
            <a:ext cx="213360" cy="31780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8991600" y="4146324"/>
            <a:ext cx="213360" cy="29533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204960" y="4118879"/>
            <a:ext cx="213360" cy="27445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418320" y="4093375"/>
            <a:ext cx="213360" cy="25504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9631680" y="4069674"/>
            <a:ext cx="213360" cy="23701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9845040" y="4047649"/>
            <a:ext cx="213360" cy="22025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0058400" y="4027181"/>
            <a:ext cx="213360" cy="20468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0271760" y="4008161"/>
            <a:ext cx="213360" cy="19021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0485120" y="3990485"/>
            <a:ext cx="213360" cy="17676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0698480" y="3974059"/>
            <a:ext cx="213360" cy="16426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0911840" y="3958795"/>
            <a:ext cx="213360" cy="15264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1125200" y="3944610"/>
            <a:ext cx="213360" cy="14185"/>
          </a:xfrm>
          <a:prstGeom prst="line">
            <a:avLst/>
          </a:prstGeom>
          <a:noFill/>
          <a:ln w="28575">
            <a:solidFill>
              <a:srgbClr val="2E5F8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09760" y="392632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 drift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480560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%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663440" y="5477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863840" y="5477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1064240" y="5477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m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434840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3%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434840" y="3538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1.5%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434840" y="5367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047488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band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2/7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400800" y="6437376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/ TARGET — 8 JUN DESIGN PROPOSAL, NOT MEASURED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7624" y="493776"/>
            <a:ext cx="621792" cy="438912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1944" y="676656"/>
            <a:ext cx="73152" cy="73152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03/07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Honeywell — the wedge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1170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RAIM for the vision aid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554480" y="1828800"/>
            <a:ext cx="0" cy="3291840"/>
          </a:xfrm>
          <a:prstGeom prst="line">
            <a:avLst/>
          </a:prstGeom>
          <a:noFill/>
          <a:ln w="38100">
            <a:solidFill>
              <a:srgbClr val="2E5F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66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IMU = the spine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V="1">
            <a:off x="1600200" y="3108960"/>
            <a:ext cx="2331720" cy="0"/>
          </a:xfrm>
          <a:prstGeom prst="line">
            <a:avLst/>
          </a:prstGeom>
          <a:noFill/>
          <a:ln w="19050">
            <a:solidFill>
              <a:srgbClr val="1B2A3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8288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= the aid that BOUNDS INS drift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99616" y="3054096"/>
            <a:ext cx="109728" cy="109728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22" name="Text 20"/>
          <p:cNvSpPr/>
          <p:nvPr/>
        </p:nvSpPr>
        <p:spPr>
          <a:xfrm>
            <a:off x="1719072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C42A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(RAIM-for-vision) clamps the drift here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9834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Fig. 3 — dead-reckoning @ 8 s vision outage, 1.5 m/s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5230368"/>
            <a:ext cx="914400" cy="201168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21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HG4930 tactical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5221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 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31720" y="5541264"/>
            <a:ext cx="1737360" cy="201168"/>
          </a:xfrm>
          <a:prstGeom prst="rect">
            <a:avLst/>
          </a:prstGeom>
          <a:solidFill>
            <a:srgbClr val="C98A1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532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industrial MEMS ~1.5 mg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0" y="5532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8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5852160"/>
            <a:ext cx="4206240" cy="201168"/>
          </a:xfrm>
          <a:prstGeom prst="rect">
            <a:avLst/>
          </a:prstGeom>
          <a:solidFill>
            <a:srgbClr val="C42A1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43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 ~20 mg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0" y="5843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31720" y="61996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cross-checked to first-principles physics  ±20%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43600" y="1627632"/>
            <a:ext cx="574243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179222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“GNSS has RAIM — a live integrity check. Vision aiding has none. We build it.”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44768" y="2615184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42A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HANA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Honeywell Alternative Navigation Architecture (Oct 2025) — software, layered, INS + aiding modalities; first release = vision-aided nav. </a:t>
            </a:r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judges built this.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44768" y="3621024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RUBRIC, SELF-SCORED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3877056"/>
          <a:ext cx="53492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7E8A9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median “flythrough” team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C42A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A.E.T.H.E.R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trajectory + an ATE number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live, fault-derived relative integrity bound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“it localizes”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“it knows when it can't be trusted”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flythrough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A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kill-the-camera: bound breathes, trust flips red</a:t>
                      </a:r>
                      <a:endParaRPr lang="en-US" sz="93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3/7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7624" y="493776"/>
            <a:ext cx="621792" cy="438912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1944" y="676656"/>
            <a:ext cx="73152" cy="73152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04/07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five independent ROS2 nodes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1170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by construction · any subset runs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377440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sensor_bridge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stereo · IMU · GT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41448" y="2926080"/>
            <a:ext cx="502920" cy="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304288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/sensor_bridge/imu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944368" y="2377440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vio_core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35808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OpenVINS ov_msckf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18888" y="2926080"/>
            <a:ext cx="502920" cy="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681728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/ov_msckf/odomimu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21808" y="2377440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2A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21396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· the wedge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1324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integrity_monitor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13248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· NIS · NEES · IB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96328" y="2926080"/>
            <a:ext cx="502920" cy="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059168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/nav/integrity_bound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699248" y="2377440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068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degradation_mgr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90688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R(D) state machine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573768" y="2926080"/>
            <a:ext cx="502920" cy="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436608" y="2670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/nav/trust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076688" y="2377440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6812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health_cockpit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168128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HUD · ellipse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19751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/nav/integrity_bound  ·  VioInternals.msg {P, ν_i, S_i, H̃x_i, χ²}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" y="3977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degradation_manager  R(D):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17520" y="3950208"/>
            <a:ext cx="1554480" cy="274320"/>
          </a:xfrm>
          <a:prstGeom prst="rect">
            <a:avLst/>
          </a:prstGeom>
          <a:solidFill>
            <a:srgbClr val="F7F6F2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4087368"/>
            <a:ext cx="228600" cy="0"/>
          </a:xfrm>
          <a:prstGeom prst="line">
            <a:avLst/>
          </a:prstGeom>
          <a:noFill/>
          <a:ln w="12700">
            <a:solidFill>
              <a:srgbClr val="7E8A9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00600" y="3950208"/>
            <a:ext cx="1554480" cy="274320"/>
          </a:xfrm>
          <a:prstGeom prst="rect">
            <a:avLst/>
          </a:prstGeom>
          <a:solidFill>
            <a:srgbClr val="F7F6F2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8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4087368"/>
            <a:ext cx="228600" cy="0"/>
          </a:xfrm>
          <a:prstGeom prst="line">
            <a:avLst/>
          </a:prstGeom>
          <a:noFill/>
          <a:ln w="12700">
            <a:solidFill>
              <a:srgbClr val="7E8A9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3950208"/>
            <a:ext cx="1554480" cy="274320"/>
          </a:xfrm>
          <a:prstGeom prst="rect">
            <a:avLst/>
          </a:prstGeom>
          <a:solidFill>
            <a:srgbClr val="F7F6F2"/>
          </a:solidFill>
          <a:ln w="15875">
            <a:solidFill>
              <a:srgbClr val="C42A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138160" y="4087368"/>
            <a:ext cx="228600" cy="0"/>
          </a:xfrm>
          <a:prstGeom prst="line">
            <a:avLst/>
          </a:prstGeom>
          <a:noFill/>
          <a:ln w="12700">
            <a:solidFill>
              <a:srgbClr val="7E8A9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366760" y="3950208"/>
            <a:ext cx="1554480" cy="274320"/>
          </a:xfrm>
          <a:prstGeom prst="rect">
            <a:avLst/>
          </a:prstGeom>
          <a:solidFill>
            <a:srgbClr val="F7F6F2"/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RE-ACQUIRE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6928" y="4572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SUBSET RUNS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6928" y="4809744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box is a standalone ROS2 node — a failed module never cascades. Graceful degradation is proven by the graph itself, not promised in prose.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06240" y="4572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LIVE DEMO IS PYTHON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206240" y="4809744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integrity_monitor consumes only what OpenVINS already publishes — pose+covariance on /ov_msckf/odomimu + feature count. No C++ fork on the critical path.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845552" y="4572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 KNOW IN 0.5 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45552" y="480974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integrity_monitor is the red node — the layer Honeywell ships and stock VIO lacks. It turns “it localizes” into “it knows when it can't be trusted.”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4/7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97896" y="420624"/>
            <a:ext cx="841248" cy="585216"/>
          </a:xfrm>
          <a:prstGeom prst="ellipse">
            <a:avLst/>
          </a:prstGeom>
          <a:solidFill>
            <a:srgbClr val="2E5F84">
              <a:alpha val="0"/>
            </a:srgbClr>
          </a:solidFill>
          <a:ln w="9525">
            <a:solidFill>
              <a:srgbClr val="2E5F84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744200" y="521208"/>
            <a:ext cx="548640" cy="384048"/>
          </a:xfrm>
          <a:prstGeom prst="ellipse">
            <a:avLst/>
          </a:prstGeom>
          <a:solidFill>
            <a:srgbClr val="2E5F84">
              <a:alpha val="0"/>
            </a:srgbClr>
          </a:solidFill>
          <a:ln w="19050">
            <a:solidFill>
              <a:srgbClr val="2E5F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41380" y="681228"/>
            <a:ext cx="64008" cy="64008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05/07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novelty — a live, fault-derived integrity bound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" y="1170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observability-conditioned · multi-class · NEES-validated (relative datum)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1783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 INDEX  D ∈ [0,1]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02082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Smallest eigenvalue of the whitened visual-information matrix on the motion-degenerate subspace — knows WHICH state direction vision can't see (e.g. scale), not just “few features.”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FAULT-DERIVED, NOT A σ-ELLIPSE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30098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fault hypothesis + non-central-χ² detection (the RAIM slope) → a protection level on the segment-RPE quantity DP7 grades. Dual bound: operational k=2.45, DAL-C k=6.74.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BOUND IS HONEST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608576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NEES vs ground truth proves the claimed bound actually covers the truth — in nominal AND outage windows. Integrity is meaningless if the bound lies.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650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 GAP — no prior work in the bottom-right cell: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Zhang&amp;Singh (degeneracy) · Hesch/Kottas (OC-EKF) · RAIM (GNSS) · Gupta&amp;Gao (vision integrity = open) → observability-conditioned + scheduler-wired + NEES-validated on ONE pipeline = ours.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069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794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519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969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694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6419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21440" y="1783080"/>
            <a:ext cx="0" cy="38404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783080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551176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319272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087368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855464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5623560"/>
            <a:ext cx="685800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148840"/>
            <a:ext cx="3657600" cy="2468880"/>
          </a:xfrm>
          <a:prstGeom prst="ellipse">
            <a:avLst/>
          </a:prstGeom>
          <a:solidFill>
            <a:srgbClr val="2E5F84">
              <a:alpha val="0"/>
            </a:srgbClr>
          </a:solidFill>
          <a:ln w="9525">
            <a:solidFill>
              <a:srgbClr val="2E5F8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086600" y="2670048"/>
            <a:ext cx="2103120" cy="1426464"/>
          </a:xfrm>
          <a:prstGeom prst="ellipse">
            <a:avLst/>
          </a:prstGeom>
          <a:solidFill>
            <a:srgbClr val="2E5F84">
              <a:alpha val="0"/>
            </a:srgbClr>
          </a:solidFill>
          <a:ln w="25400">
            <a:solidFill>
              <a:srgbClr val="2E5F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85632" y="3182112"/>
            <a:ext cx="128016" cy="128016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44" name="Shape 42"/>
          <p:cNvSpPr/>
          <p:nvPr/>
        </p:nvSpPr>
        <p:spPr>
          <a:xfrm>
            <a:off x="8138160" y="3383280"/>
            <a:ext cx="1051560" cy="0"/>
          </a:xfrm>
          <a:prstGeom prst="line">
            <a:avLst/>
          </a:prstGeom>
          <a:noFill/>
          <a:ln w="12700">
            <a:solidFill>
              <a:srgbClr val="2E5F84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229600" y="3438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k=2.45 · IB ≈ 1.31 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38160" y="2148840"/>
            <a:ext cx="0" cy="521208"/>
          </a:xfrm>
          <a:prstGeom prst="line">
            <a:avLst/>
          </a:prstGeom>
          <a:noFill/>
          <a:ln w="9525">
            <a:solidFill>
              <a:srgbClr val="2E5F8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1965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k_ffd=6.74 · DAL-C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V="1">
            <a:off x="8549640" y="2560320"/>
            <a:ext cx="1143000" cy="685800"/>
          </a:xfrm>
          <a:prstGeom prst="line">
            <a:avLst/>
          </a:prstGeom>
          <a:noFill/>
          <a:ln w="9525">
            <a:solidFill>
              <a:srgbClr val="C42A1C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9418320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error ≈ 0.3 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5212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 LEDGER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58000" y="5440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  k=2.45  → 95% containment, the bound we act on
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DAL-C        k_ffd=6.74 → exceedance 1.39e-10 (scipy)
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λ_md=45.0 · T_D=13.82 · IB_assoc ≈ 1.31 m covers true ≈ 0.3 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5/7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00800" y="6437376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/ TARGET — 8 JUN DESIGN PROPOSAL, NOT MEASURED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61320" y="384048"/>
            <a:ext cx="914400" cy="658368"/>
          </a:xfrm>
          <a:prstGeom prst="ellipse">
            <a:avLst/>
          </a:prstGeom>
          <a:solidFill>
            <a:srgbClr val="C42A1C">
              <a:alpha val="0"/>
            </a:srgbClr>
          </a:solidFill>
          <a:ln w="19050">
            <a:solidFill>
              <a:srgbClr val="C42A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16768" y="493776"/>
            <a:ext cx="603504" cy="438912"/>
          </a:xfrm>
          <a:prstGeom prst="ellipse">
            <a:avLst/>
          </a:prstGeom>
          <a:solidFill>
            <a:srgbClr val="2E5F84">
              <a:alpha val="0"/>
            </a:srgbClr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50524" y="653796"/>
            <a:ext cx="64008" cy="64008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06/07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— kill the camera, watch the bound breathe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6692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748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804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916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972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084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3140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1737360"/>
            <a:ext cx="0" cy="301752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1737360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2340864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2944368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547872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151376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754880"/>
            <a:ext cx="603504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396996"/>
            <a:ext cx="201168" cy="10385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68096" y="3500846"/>
            <a:ext cx="201168" cy="10129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69264" y="3602138"/>
            <a:ext cx="201168" cy="96241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170432" y="3698380"/>
            <a:ext cx="201168" cy="8882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371600" y="3787200"/>
            <a:ext cx="201168" cy="7921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72768" y="3866412"/>
            <a:ext cx="201168" cy="6765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773936" y="3934065"/>
            <a:ext cx="201168" cy="5442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975104" y="3988495"/>
            <a:ext cx="201168" cy="3986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176272" y="4028359"/>
            <a:ext cx="201168" cy="24318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377440" y="4052677"/>
            <a:ext cx="201168" cy="817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2578608" y="4052677"/>
            <a:ext cx="201168" cy="817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V="1">
            <a:off x="2779776" y="4028359"/>
            <a:ext cx="201168" cy="24318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2980944" y="3988495"/>
            <a:ext cx="201168" cy="3986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3182112" y="3934065"/>
            <a:ext cx="201168" cy="5442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3383280" y="3866412"/>
            <a:ext cx="201168" cy="6765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3584448" y="3787200"/>
            <a:ext cx="201168" cy="7921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V="1">
            <a:off x="3785616" y="3698380"/>
            <a:ext cx="201168" cy="8882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3986784" y="3602138"/>
            <a:ext cx="201168" cy="96241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4187952" y="3500846"/>
            <a:ext cx="201168" cy="10129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4389120" y="3396996"/>
            <a:ext cx="201168" cy="10385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4590288" y="3293146"/>
            <a:ext cx="201168" cy="10385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4791456" y="3191854"/>
            <a:ext cx="201168" cy="10129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4992624" y="3095612"/>
            <a:ext cx="201168" cy="96241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 flipV="1">
            <a:off x="5193792" y="3006792"/>
            <a:ext cx="201168" cy="8882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flipV="1">
            <a:off x="5394960" y="2927580"/>
            <a:ext cx="201168" cy="7921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 flipV="1">
            <a:off x="5596128" y="2859927"/>
            <a:ext cx="201168" cy="6765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flipV="1">
            <a:off x="5797296" y="2805497"/>
            <a:ext cx="201168" cy="5442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 flipV="1">
            <a:off x="5998464" y="2765633"/>
            <a:ext cx="201168" cy="3986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V="1">
            <a:off x="6199632" y="2741315"/>
            <a:ext cx="201168" cy="24318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 flipV="1">
            <a:off x="6400800" y="2733142"/>
            <a:ext cx="201168" cy="817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5742432" y="2805063"/>
            <a:ext cx="109728" cy="109728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64" name="Shape 62"/>
          <p:cNvSpPr/>
          <p:nvPr/>
        </p:nvSpPr>
        <p:spPr>
          <a:xfrm>
            <a:off x="2212848" y="3813962"/>
            <a:ext cx="731520" cy="493776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04288" y="432602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t=9s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529584" y="3163226"/>
            <a:ext cx="1316736" cy="877824"/>
          </a:xfrm>
          <a:prstGeom prst="ellipse">
            <a:avLst/>
          </a:prstGeom>
          <a:solidFill>
            <a:srgbClr val="2E5F84">
              <a:alpha val="0"/>
            </a:srgbClr>
          </a:solidFill>
          <a:ln w="15875">
            <a:solidFill>
              <a:srgbClr val="2E5F8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13632" y="405933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t=18s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837176" y="2219847"/>
            <a:ext cx="1920240" cy="1280160"/>
          </a:xfrm>
          <a:prstGeom prst="ellipse">
            <a:avLst/>
          </a:prstGeom>
          <a:solidFill>
            <a:srgbClr val="C42A1C">
              <a:alpha val="0"/>
            </a:srgbClr>
          </a:solidFill>
          <a:ln w="22225">
            <a:solidFill>
              <a:srgbClr val="C42A1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22976" y="3518295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t=28s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6928" y="4828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black @ 8 s → bound blooms to ~1.0–1.1 m, chasing &amp; containing the moving truth.  TRUTH ∈ BOUND: 100%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812280" y="1856232"/>
            <a:ext cx="91440" cy="91440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72" name="Text 70"/>
          <p:cNvSpPr/>
          <p:nvPr/>
        </p:nvSpPr>
        <p:spPr>
          <a:xfrm>
            <a:off x="7013448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 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NOMINAL · drift&lt;1.5%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812280" y="2167128"/>
            <a:ext cx="91440" cy="91440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74" name="Text 72"/>
          <p:cNvSpPr/>
          <p:nvPr/>
        </p:nvSpPr>
        <p:spPr>
          <a:xfrm>
            <a:off x="7013448" y="2093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 · camera black, stock VIO lies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812280" y="2478024"/>
            <a:ext cx="91440" cy="9144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76" name="Text 74"/>
          <p:cNvSpPr/>
          <p:nvPr/>
        </p:nvSpPr>
        <p:spPr>
          <a:xfrm>
            <a:off x="7013448" y="2404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8–9 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RED &lt;0.5 s · degrade to inertial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812280" y="2788920"/>
            <a:ext cx="91440" cy="91440"/>
          </a:xfrm>
          <a:prstGeom prst="ellipse">
            <a:avLst/>
          </a:prstGeom>
          <a:solidFill>
            <a:srgbClr val="C42A1C"/>
          </a:solidFill>
          <a:ln/>
        </p:spPr>
      </p:sp>
      <p:sp>
        <p:nvSpPr>
          <p:cNvPr id="78" name="Text 76"/>
          <p:cNvSpPr/>
          <p:nvPr/>
        </p:nvSpPr>
        <p:spPr>
          <a:xfrm>
            <a:off x="7013448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9–28 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ellipse BLOOMS, contains truth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812280" y="3099816"/>
            <a:ext cx="91440" cy="91440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80" name="Text 78"/>
          <p:cNvSpPr/>
          <p:nvPr/>
        </p:nvSpPr>
        <p:spPr>
          <a:xfrm>
            <a:off x="7013448" y="3026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28–32 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back · re-converge · green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812280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812280" y="37124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2200" dirty="0"/>
          </a:p>
        </p:txBody>
      </p:sp>
      <p:sp>
        <p:nvSpPr>
          <p:cNvPr id="83" name="Text 81"/>
          <p:cNvSpPr/>
          <p:nvPr/>
        </p:nvSpPr>
        <p:spPr>
          <a:xfrm>
            <a:off x="6812280" y="4096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 covers true error (held-out)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244584" y="37124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0.5 s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9244584" y="4096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fault detected, trust flips red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12280" y="4553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 m</a:t>
            </a:r>
            <a:endParaRPr lang="en-US" sz="2200" dirty="0"/>
          </a:p>
        </p:txBody>
      </p:sp>
      <p:sp>
        <p:nvSpPr>
          <p:cNvPr id="87" name="Text 85"/>
          <p:cNvSpPr/>
          <p:nvPr/>
        </p:nvSpPr>
        <p:spPr>
          <a:xfrm>
            <a:off x="6812280" y="4937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/8 s · HG4930  [datasheet]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244584" y="4553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±20%</a:t>
            </a:r>
            <a:endParaRPr lang="en-US" sz="2200" dirty="0"/>
          </a:p>
        </p:txBody>
      </p:sp>
      <p:sp>
        <p:nvSpPr>
          <p:cNvPr id="89" name="Text 87"/>
          <p:cNvSpPr/>
          <p:nvPr/>
        </p:nvSpPr>
        <p:spPr>
          <a:xfrm>
            <a:off x="9244584" y="4937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7E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dead-reckon vs physics check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66928" y="52852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est-vs-GT · drift &lt; 1.5%  (illustrative)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66928" y="5669280"/>
            <a:ext cx="137160" cy="63673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4088" y="5732953"/>
            <a:ext cx="137160" cy="5967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1248" y="5792624"/>
            <a:ext cx="137160" cy="5192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78408" y="5844546"/>
            <a:ext cx="137160" cy="40909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15568" y="5885455"/>
            <a:ext cx="137160" cy="27326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252728" y="5912781"/>
            <a:ext cx="137160" cy="12026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389888" y="5920777"/>
            <a:ext cx="137160" cy="403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1527048" y="5900945"/>
            <a:ext cx="137160" cy="1983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664208" y="5866556"/>
            <a:ext cx="137160" cy="34389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1801368" y="5819772"/>
            <a:ext cx="137160" cy="46784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1938528" y="5763532"/>
            <a:ext cx="137160" cy="5624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075688" y="5701369"/>
            <a:ext cx="137160" cy="6216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2212848" y="5637191"/>
            <a:ext cx="137160" cy="64179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2350008" y="5575028"/>
            <a:ext cx="137160" cy="6216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2487168" y="5518788"/>
            <a:ext cx="137160" cy="5624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2624328" y="5472004"/>
            <a:ext cx="137160" cy="46784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2761488" y="5437615"/>
            <a:ext cx="137160" cy="34389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2898648" y="5417783"/>
            <a:ext cx="137160" cy="19832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035808" y="5413753"/>
            <a:ext cx="137160" cy="4030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72968" y="5413753"/>
            <a:ext cx="137160" cy="12026"/>
          </a:xfrm>
          <a:prstGeom prst="line">
            <a:avLst/>
          </a:prstGeom>
          <a:noFill/>
          <a:ln w="19050">
            <a:solidFill>
              <a:srgbClr val="2E5F8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66928" y="5715000"/>
            <a:ext cx="137160" cy="63673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704088" y="5778673"/>
            <a:ext cx="137160" cy="5967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841248" y="5838344"/>
            <a:ext cx="137160" cy="5192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978408" y="5890266"/>
            <a:ext cx="137160" cy="4090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1115568" y="5931175"/>
            <a:ext cx="137160" cy="27326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1252728" y="5958501"/>
            <a:ext cx="137160" cy="12026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flipV="1">
            <a:off x="1389888" y="5966497"/>
            <a:ext cx="137160" cy="403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1527048" y="5946665"/>
            <a:ext cx="137160" cy="1983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 flipV="1">
            <a:off x="1664208" y="5912276"/>
            <a:ext cx="137160" cy="3438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1801368" y="5865492"/>
            <a:ext cx="137160" cy="4678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flipV="1">
            <a:off x="1938528" y="5809252"/>
            <a:ext cx="137160" cy="5624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2075688" y="5747089"/>
            <a:ext cx="137160" cy="6216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 flipV="1">
            <a:off x="2212848" y="5682911"/>
            <a:ext cx="137160" cy="6417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 flipV="1">
            <a:off x="2350008" y="5620748"/>
            <a:ext cx="137160" cy="6216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flipV="1">
            <a:off x="2487168" y="5564508"/>
            <a:ext cx="137160" cy="5624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 flipV="1">
            <a:off x="2624328" y="5517724"/>
            <a:ext cx="137160" cy="46784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2761488" y="5483335"/>
            <a:ext cx="137160" cy="34389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 flipV="1">
            <a:off x="2898648" y="5463503"/>
            <a:ext cx="137160" cy="19832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3035808" y="5459473"/>
            <a:ext cx="137160" cy="4030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3172968" y="5459473"/>
            <a:ext cx="137160" cy="12026"/>
          </a:xfrm>
          <a:prstGeom prst="line">
            <a:avLst/>
          </a:prstGeom>
          <a:noFill/>
          <a:ln w="12700">
            <a:solidFill>
              <a:srgbClr val="1B2A36"/>
            </a:solidFill>
            <a:prstDash val="dash"/>
          </a:ln>
        </p:spPr>
      </p:sp>
      <p:sp>
        <p:nvSpPr>
          <p:cNvPr id="131" name="Text 129"/>
          <p:cNvSpPr/>
          <p:nvPr/>
        </p:nvSpPr>
        <p:spPr>
          <a:xfrm>
            <a:off x="3566160" y="5440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3-RUNG SAFETY LADDER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566160" y="567842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→ rosbag-replay → backup video. The kill-camera beat is identical on rungs 1–2; the integrity layer runs on EuRoC even if sim wobbles.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6812280" y="5852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“When the camera dies, our drift bound still covers the truth 95%+ of the time — and we know within half a second.”</a:t>
            </a:r>
            <a:endParaRPr lang="en-US" sz="1050" dirty="0"/>
          </a:p>
        </p:txBody>
      </p:sp>
      <p:sp>
        <p:nvSpPr>
          <p:cNvPr id="134" name="Shape 132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6/7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6400800" y="6437376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/ TARGET — 8 JUN DESIGN PROPOSAL, NOT MEASURED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7F6F2">
              <a:alpha val="0"/>
            </a:srgbClr>
          </a:solidFill>
          <a:ln w="9525">
            <a:solidFill>
              <a:srgbClr val="2E5F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789359" y="256032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89359" y="6601968"/>
            <a:ext cx="146304" cy="0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35663" y="6455664"/>
            <a:ext cx="0" cy="146304"/>
          </a:xfrm>
          <a:prstGeom prst="line">
            <a:avLst/>
          </a:prstGeom>
          <a:noFill/>
          <a:ln w="15875">
            <a:solidFill>
              <a:srgbClr val="2E5F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566928"/>
            <a:ext cx="402336" cy="292608"/>
          </a:xfrm>
          <a:prstGeom prst="ellipse">
            <a:avLst/>
          </a:prstGeom>
          <a:solidFill>
            <a:srgbClr val="2F7D4F">
              <a:alpha val="0"/>
            </a:srgbClr>
          </a:solidFill>
          <a:ln w="19050">
            <a:solidFill>
              <a:srgbClr val="2F7D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86516" y="681228"/>
            <a:ext cx="64008" cy="64008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0241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∈ BOUND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FLIGHT-TEST REPORT · AE-001 · DP7 · DWG 07/07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7132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plan &amp; feasibility — de-risked to a guaranteed floor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1170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people · 8–11 Jun build · 12 Jun demo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9312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2011680"/>
            <a:ext cx="0" cy="338328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01168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43459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285750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28041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70332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2623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54914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97205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394960"/>
            <a:ext cx="7680960" cy="0"/>
          </a:xfrm>
          <a:prstGeom prst="line">
            <a:avLst/>
          </a:prstGeom>
          <a:noFill/>
          <a:ln w="6350">
            <a:solidFill>
              <a:srgbClr val="D7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Jun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03120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Jun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39312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Jun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75504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Jun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11696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Jun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" y="2103120"/>
            <a:ext cx="1444752" cy="457200"/>
          </a:xfrm>
          <a:prstGeom prst="rect">
            <a:avLst/>
          </a:prstGeom>
          <a:solidFill>
            <a:srgbClr val="F6E2DF"/>
          </a:solidFill>
          <a:ln w="19050">
            <a:solidFill>
              <a:srgbClr val="C42A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" y="213969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C42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RISK · Windows → Ubuntu 22.04 (ROS2 Humble · Gazebo Harmonic · PX4)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6928" y="2962656"/>
            <a:ext cx="3072384" cy="219456"/>
          </a:xfrm>
          <a:prstGeom prst="rect">
            <a:avLst/>
          </a:prstGeom>
          <a:solidFill>
            <a:srgbClr val="D7E2EA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29580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OpenVINS on EuRoC — valid drift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" y="3273552"/>
            <a:ext cx="3072384" cy="219456"/>
          </a:xfrm>
          <a:prstGeom prst="rect">
            <a:avLst/>
          </a:prstGeom>
          <a:solidFill>
            <a:srgbClr val="D7E2EA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326898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EuRoC R(D) ablation + /vio/internals shot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335024" y="3584448"/>
            <a:ext cx="2918765" cy="219456"/>
          </a:xfrm>
          <a:prstGeom prst="rect">
            <a:avLst/>
          </a:prstGeom>
          <a:solidFill>
            <a:srgbClr val="D7E2EA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357987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Gazebo tunnel + GT · OpenVINS on sim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17597" y="3895344"/>
            <a:ext cx="921715" cy="219456"/>
          </a:xfrm>
          <a:prstGeom prst="rect">
            <a:avLst/>
          </a:prstGeom>
          <a:solidFill>
            <a:srgbClr val="D7E2EA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8907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IB_deg outage-coverage plot (offline)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66928" y="4206240"/>
            <a:ext cx="3686861" cy="219456"/>
          </a:xfrm>
          <a:prstGeom prst="rect">
            <a:avLst/>
          </a:prstGeom>
          <a:solidFill>
            <a:srgbClr val="2E5F84"/>
          </a:solidFill>
          <a:ln w="12700">
            <a:solidFill>
              <a:srgbClr val="2E5F8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420166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ALL FOUR DP7 DELIVERABLES (floor locked)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39312" y="2011680"/>
            <a:ext cx="0" cy="3383280"/>
          </a:xfrm>
          <a:prstGeom prst="line">
            <a:avLst/>
          </a:prstGeom>
          <a:noFill/>
          <a:ln w="25400">
            <a:solidFill>
              <a:srgbClr val="2F7D4F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999232" y="5413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LOCKED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253789" y="4672584"/>
            <a:ext cx="1843430" cy="201168"/>
          </a:xfrm>
          <a:prstGeom prst="rect">
            <a:avLst/>
          </a:prstGeom>
          <a:solidFill>
            <a:srgbClr val="F7F6F2"/>
          </a:solidFill>
          <a:ln w="12700">
            <a:solidFill>
              <a:srgbClr val="7E8A93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4299509" y="4663440"/>
            <a:ext cx="32150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+ 3-class bound + R(D) in sim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75504" y="4828032"/>
            <a:ext cx="1536192" cy="201168"/>
          </a:xfrm>
          <a:prstGeom prst="rect">
            <a:avLst/>
          </a:prstGeom>
          <a:solidFill>
            <a:srgbClr val="F7F6F2"/>
          </a:solidFill>
          <a:ln w="12700">
            <a:solidFill>
              <a:srgbClr val="7E8A93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5221224" y="48188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kill-camera demo + breathing cockpit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175504" y="5045659"/>
            <a:ext cx="2765146" cy="201168"/>
          </a:xfrm>
          <a:prstGeom prst="rect">
            <a:avLst/>
          </a:prstGeom>
          <a:solidFill>
            <a:srgbClr val="F7F6F2"/>
          </a:solidFill>
          <a:ln w="12700">
            <a:solidFill>
              <a:srgbClr val="7E8A93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5221224" y="5036515"/>
            <a:ext cx="41367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fork · full RAIM-slope (stretch)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412480" y="1828800"/>
            <a:ext cx="327355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77072" y="1938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vs STRETCH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77072" y="22402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GUARANTEED (by 11 Jun)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77072" y="247802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OpenVINS on EuRoC + Gazebo → drift&lt;1.5% → est-vs-GT → documented workspace. All 4 DP7 deliverables. High confidence.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577072" y="35204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(Python)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77072" y="375818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integrity_monitor on published covariance → trust light + breathing bound + kill-camera. Medium-high confidence.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577072" y="46634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F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STRETCH (presented, not bet)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77072" y="490118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A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C++ internals fork · full whitened-D · generalized-eigenvalue RAIM slope → derived + offline. Dashed = not on critical path.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6928" y="5852160"/>
            <a:ext cx="76809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C42A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5852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“When the camera dies, our drift bound still covers the truth 95%+ — and we know within half a second.”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A.E.T.H.E.R · DP7 · FLIGHT-TEST REPORT AE-001 · pg 7/7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A.E.T.H.E.R — Honeywell Design-A-Thon DP7</dc:title>
  <dc:subject>PptxGenJS Presentation</dc:subject>
  <dc:creator>Rayyan &amp; Ashitha</dc:creator>
  <cp:lastModifiedBy>Rayyan &amp; Ashitha</cp:lastModifiedBy>
  <cp:revision>1</cp:revision>
  <dcterms:created xsi:type="dcterms:W3CDTF">2026-06-08T17:09:46Z</dcterms:created>
  <dcterms:modified xsi:type="dcterms:W3CDTF">2026-06-08T17:09:46Z</dcterms:modified>
</cp:coreProperties>
</file>
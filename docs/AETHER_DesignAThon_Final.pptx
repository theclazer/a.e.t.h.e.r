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707624" y="493776"/>
            <a:ext cx="621792" cy="438912"/>
          </a:xfrm>
          <a:prstGeom prst="ellipse">
            <a:avLst/>
          </a:prstGeom>
          <a:solidFill>
            <a:srgbClr val="2E5F84">
              <a:alpha val="0"/>
            </a:srgbClr>
          </a:solidFill>
          <a:ln w="15875">
            <a:solidFill>
              <a:srgbClr val="2E5F84"/>
            </a:solidFill>
            <a:prstDash val="solid"/>
          </a:ln>
        </p:spPr>
      </p:sp>
      <p:sp>
        <p:nvSpPr>
          <p:cNvPr id="12" name="Shape 10"/>
          <p:cNvSpPr/>
          <p:nvPr/>
        </p:nvSpPr>
        <p:spPr>
          <a:xfrm>
            <a:off x="10981944" y="676656"/>
            <a:ext cx="73152" cy="73152"/>
          </a:xfrm>
          <a:prstGeom prst="ellipse">
            <a:avLst/>
          </a:prstGeom>
          <a:solidFill>
            <a:srgbClr val="2F7D4F"/>
          </a:solidFill>
          <a:ln/>
        </p:spPr>
      </p:sp>
      <p:sp>
        <p:nvSpPr>
          <p:cNvPr id="13" name="Text 11"/>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4" name="Text 12"/>
          <p:cNvSpPr/>
          <p:nvPr/>
        </p:nvSpPr>
        <p:spPr>
          <a:xfrm>
            <a:off x="502920" y="457200"/>
            <a:ext cx="10058400" cy="237744"/>
          </a:xfrm>
          <a:prstGeom prst="rect">
            <a:avLst/>
          </a:prstGeom>
          <a:noFill/>
          <a:ln/>
        </p:spPr>
        <p:txBody>
          <a:bodyPr wrap="square" lIns="0" tIns="0" rIns="0" bIns="0" rtlCol="0" anchor="ctr"/>
          <a:lstStyle/>
          <a:p>
            <a:pPr indent="0" marL="0">
              <a:buNone/>
            </a:pPr>
            <a:r>
              <a:rPr lang="en-US" sz="1000" spc="200" kern="0" dirty="0">
                <a:solidFill>
                  <a:srgbClr val="2E5F84"/>
                </a:solidFill>
                <a:latin typeface="Consolas" pitchFamily="34" charset="0"/>
                <a:ea typeface="Consolas" pitchFamily="34" charset="-122"/>
                <a:cs typeface="Consolas" pitchFamily="34" charset="-120"/>
              </a:rPr>
              <a:t>HONEYWELL DESIGN-A-THON · RVCE 2026 · PROBLEM DP7 · FINAL SUBMISSION</a:t>
            </a:r>
            <a:endParaRPr lang="en-US" sz="1000" dirty="0"/>
          </a:p>
        </p:txBody>
      </p:sp>
      <p:sp>
        <p:nvSpPr>
          <p:cNvPr id="15" name="Text 13"/>
          <p:cNvSpPr/>
          <p:nvPr/>
        </p:nvSpPr>
        <p:spPr>
          <a:xfrm>
            <a:off x="484632" y="749808"/>
            <a:ext cx="6858000" cy="822960"/>
          </a:xfrm>
          <a:prstGeom prst="rect">
            <a:avLst/>
          </a:prstGeom>
          <a:noFill/>
          <a:ln/>
        </p:spPr>
        <p:txBody>
          <a:bodyPr wrap="square" lIns="0" tIns="0" rIns="0" bIns="0" rtlCol="0" anchor="ctr"/>
          <a:lstStyle/>
          <a:p>
            <a:pPr indent="0" marL="0">
              <a:buNone/>
            </a:pPr>
            <a:r>
              <a:rPr lang="en-US" sz="5000" b="1" dirty="0">
                <a:solidFill>
                  <a:srgbClr val="1B2A36"/>
                </a:solidFill>
                <a:latin typeface="Georgia" pitchFamily="34" charset="0"/>
                <a:ea typeface="Georgia" pitchFamily="34" charset="-122"/>
                <a:cs typeface="Georgia" pitchFamily="34" charset="-120"/>
              </a:rPr>
              <a:t>A.E.T.H.E.R</a:t>
            </a:r>
            <a:endParaRPr lang="en-US" sz="5000" dirty="0"/>
          </a:p>
        </p:txBody>
      </p:sp>
      <p:sp>
        <p:nvSpPr>
          <p:cNvPr id="16" name="Text 14"/>
          <p:cNvSpPr/>
          <p:nvPr/>
        </p:nvSpPr>
        <p:spPr>
          <a:xfrm>
            <a:off x="502920" y="1627632"/>
            <a:ext cx="6766560" cy="274320"/>
          </a:xfrm>
          <a:prstGeom prst="rect">
            <a:avLst/>
          </a:prstGeom>
          <a:noFill/>
          <a:ln/>
        </p:spPr>
        <p:txBody>
          <a:bodyPr wrap="square" lIns="0" tIns="0" rIns="0" bIns="0" rtlCol="0" anchor="ctr"/>
          <a:lstStyle/>
          <a:p>
            <a:pPr indent="0" marL="0">
              <a:buNone/>
            </a:pPr>
            <a:r>
              <a:rPr lang="en-US" sz="1350" i="1" dirty="0">
                <a:solidFill>
                  <a:srgbClr val="2E5F84"/>
                </a:solidFill>
                <a:latin typeface="Georgia" pitchFamily="34" charset="0"/>
                <a:ea typeface="Georgia" pitchFamily="34" charset="-122"/>
                <a:cs typeface="Georgia" pitchFamily="34" charset="-120"/>
              </a:rPr>
              <a:t>Assured Estimation with Trust, Health &amp; Error-bounded Reckoning</a:t>
            </a:r>
            <a:endParaRPr lang="en-US" sz="1350" dirty="0"/>
          </a:p>
        </p:txBody>
      </p:sp>
      <p:sp>
        <p:nvSpPr>
          <p:cNvPr id="17" name="Text 15"/>
          <p:cNvSpPr/>
          <p:nvPr/>
        </p:nvSpPr>
        <p:spPr>
          <a:xfrm>
            <a:off x="502920" y="1938528"/>
            <a:ext cx="6766560" cy="274320"/>
          </a:xfrm>
          <a:prstGeom prst="rect">
            <a:avLst/>
          </a:prstGeom>
          <a:noFill/>
          <a:ln/>
        </p:spPr>
        <p:txBody>
          <a:bodyPr wrap="square" lIns="0" tIns="0" rIns="0" bIns="0" rtlCol="0" anchor="ctr"/>
          <a:lstStyle/>
          <a:p>
            <a:pPr indent="0" marL="0">
              <a:buNone/>
            </a:pPr>
            <a:r>
              <a:rPr lang="en-US" sz="1200" dirty="0">
                <a:solidFill>
                  <a:srgbClr val="1B2A36"/>
                </a:solidFill>
                <a:latin typeface="Segoe UI" pitchFamily="34" charset="0"/>
                <a:ea typeface="Segoe UI" pitchFamily="34" charset="-122"/>
                <a:cs typeface="Segoe UI" pitchFamily="34" charset="-120"/>
              </a:rPr>
              <a:t>Integrity-aware Visual-Inertial Odometry for a GPS-denied indoor drone</a:t>
            </a:r>
            <a:endParaRPr lang="en-US" sz="1200" dirty="0"/>
          </a:p>
        </p:txBody>
      </p:sp>
      <p:sp>
        <p:nvSpPr>
          <p:cNvPr id="18" name="Shape 16"/>
          <p:cNvSpPr/>
          <p:nvPr/>
        </p:nvSpPr>
        <p:spPr>
          <a:xfrm>
            <a:off x="502920" y="2395728"/>
            <a:ext cx="6812280" cy="1051560"/>
          </a:xfrm>
          <a:prstGeom prst="rect">
            <a:avLst/>
          </a:prstGeom>
          <a:solidFill>
            <a:srgbClr val="FFFFFF"/>
          </a:solidFill>
          <a:ln w="12700">
            <a:solidFill>
              <a:srgbClr val="D7DDE2"/>
            </a:solidFill>
            <a:prstDash val="solid"/>
          </a:ln>
        </p:spPr>
      </p:sp>
      <p:sp>
        <p:nvSpPr>
          <p:cNvPr id="19" name="Text 17"/>
          <p:cNvSpPr/>
          <p:nvPr/>
        </p:nvSpPr>
        <p:spPr>
          <a:xfrm>
            <a:off x="658368" y="2505456"/>
            <a:ext cx="2743200" cy="219456"/>
          </a:xfrm>
          <a:prstGeom prst="rect">
            <a:avLst/>
          </a:prstGeom>
          <a:noFill/>
          <a:ln/>
        </p:spPr>
        <p:txBody>
          <a:bodyPr wrap="square" lIns="0" tIns="0" rIns="0" bIns="0" rtlCol="0" anchor="ctr"/>
          <a:lstStyle/>
          <a:p>
            <a:pPr indent="0" marL="0">
              <a:buNone/>
            </a:pPr>
            <a:r>
              <a:rPr lang="en-US" sz="900" b="1" spc="200" kern="0" dirty="0">
                <a:solidFill>
                  <a:srgbClr val="C42A1C"/>
                </a:solidFill>
                <a:latin typeface="Consolas" pitchFamily="34" charset="0"/>
                <a:ea typeface="Consolas" pitchFamily="34" charset="-122"/>
                <a:cs typeface="Consolas" pitchFamily="34" charset="-120"/>
              </a:rPr>
              <a:t>THESIS</a:t>
            </a:r>
            <a:endParaRPr lang="en-US" sz="900" dirty="0"/>
          </a:p>
        </p:txBody>
      </p:sp>
      <p:sp>
        <p:nvSpPr>
          <p:cNvPr id="20" name="Text 18"/>
          <p:cNvSpPr/>
          <p:nvPr/>
        </p:nvSpPr>
        <p:spPr>
          <a:xfrm>
            <a:off x="658368" y="2724912"/>
            <a:ext cx="6492240" cy="658368"/>
          </a:xfrm>
          <a:prstGeom prst="rect">
            <a:avLst/>
          </a:prstGeom>
          <a:noFill/>
          <a:ln/>
        </p:spPr>
        <p:txBody>
          <a:bodyPr wrap="square" lIns="0" tIns="0" rIns="0" bIns="0" rtlCol="0" anchor="ctr"/>
          <a:lstStyle/>
          <a:p>
            <a:pPr indent="0" marL="0">
              <a:lnSpc>
                <a:spcPts val="1800"/>
              </a:lnSpc>
              <a:buNone/>
            </a:pPr>
            <a:r>
              <a:rPr lang="en-US" sz="1350" i="1" dirty="0">
                <a:solidFill>
                  <a:srgbClr val="1B2A36"/>
                </a:solidFill>
                <a:latin typeface="Georgia" pitchFamily="34" charset="0"/>
                <a:ea typeface="Georgia" pitchFamily="34" charset="-122"/>
                <a:cs typeface="Georgia" pitchFamily="34" charset="-120"/>
              </a:rPr>
              <a:t>“When the camera dies, our drift bound still covers the true position 95%+ of the time — and we know within half a second.”</a:t>
            </a:r>
            <a:endParaRPr lang="en-US" sz="1350" dirty="0"/>
          </a:p>
        </p:txBody>
      </p:sp>
      <p:sp>
        <p:nvSpPr>
          <p:cNvPr id="21" name="Text 19"/>
          <p:cNvSpPr/>
          <p:nvPr/>
        </p:nvSpPr>
        <p:spPr>
          <a:xfrm>
            <a:off x="502920" y="3611880"/>
            <a:ext cx="6400800" cy="219456"/>
          </a:xfrm>
          <a:prstGeom prst="rect">
            <a:avLst/>
          </a:prstGeom>
          <a:noFill/>
          <a:ln/>
        </p:spPr>
        <p:txBody>
          <a:bodyPr wrap="square" lIns="0" tIns="0" rIns="0" bIns="0" rtlCol="0" anchor="ctr"/>
          <a:lstStyle/>
          <a:p>
            <a:pPr indent="0" marL="0">
              <a:buNone/>
            </a:pPr>
            <a:r>
              <a:rPr lang="en-US" sz="900" b="1" spc="150" kern="0" dirty="0">
                <a:solidFill>
                  <a:srgbClr val="2E5F84"/>
                </a:solidFill>
                <a:latin typeface="Consolas" pitchFamily="34" charset="0"/>
                <a:ea typeface="Consolas" pitchFamily="34" charset="-122"/>
                <a:cs typeface="Consolas" pitchFamily="34" charset="-120"/>
              </a:rPr>
              <a:t>WHAT THIS SUBMISSION COVERS</a:t>
            </a:r>
            <a:endParaRPr lang="en-US" sz="900" dirty="0"/>
          </a:p>
        </p:txBody>
      </p:sp>
      <p:sp>
        <p:nvSpPr>
          <p:cNvPr id="22" name="Shape 20"/>
          <p:cNvSpPr/>
          <p:nvPr/>
        </p:nvSpPr>
        <p:spPr>
          <a:xfrm>
            <a:off x="502920" y="3886200"/>
            <a:ext cx="365760" cy="365760"/>
          </a:xfrm>
          <a:prstGeom prst="rect">
            <a:avLst/>
          </a:prstGeom>
          <a:solidFill>
            <a:srgbClr val="F7F6F2"/>
          </a:solidFill>
          <a:ln w="15875">
            <a:solidFill>
              <a:srgbClr val="C42A1C"/>
            </a:solidFill>
            <a:prstDash val="solid"/>
          </a:ln>
        </p:spPr>
      </p:sp>
      <p:sp>
        <p:nvSpPr>
          <p:cNvPr id="23" name="Text 21"/>
          <p:cNvSpPr/>
          <p:nvPr/>
        </p:nvSpPr>
        <p:spPr>
          <a:xfrm>
            <a:off x="502920" y="3886200"/>
            <a:ext cx="365760" cy="365760"/>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1</a:t>
            </a:r>
            <a:endParaRPr lang="en-US" sz="1500" dirty="0"/>
          </a:p>
        </p:txBody>
      </p:sp>
      <p:sp>
        <p:nvSpPr>
          <p:cNvPr id="24" name="Text 22"/>
          <p:cNvSpPr/>
          <p:nvPr/>
        </p:nvSpPr>
        <p:spPr>
          <a:xfrm>
            <a:off x="987552" y="3904488"/>
            <a:ext cx="4206240" cy="329184"/>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PROBLEM UNDERSTANDING</a:t>
            </a:r>
            <a:endParaRPr lang="en-US" sz="1200" dirty="0"/>
          </a:p>
        </p:txBody>
      </p:sp>
      <p:sp>
        <p:nvSpPr>
          <p:cNvPr id="25" name="Text 23"/>
          <p:cNvSpPr/>
          <p:nvPr/>
        </p:nvSpPr>
        <p:spPr>
          <a:xfrm>
            <a:off x="5212080" y="3904488"/>
            <a:ext cx="2011680" cy="329184"/>
          </a:xfrm>
          <a:prstGeom prst="rect">
            <a:avLst/>
          </a:prstGeom>
          <a:noFill/>
          <a:ln/>
        </p:spPr>
        <p:txBody>
          <a:bodyPr wrap="square" lIns="0" tIns="0" rIns="0" bIns="0" rtlCol="0" anchor="ctr"/>
          <a:lstStyle/>
          <a:p>
            <a:pPr indent="0" marL="0">
              <a:buNone/>
            </a:pPr>
            <a:r>
              <a:rPr lang="en-US" sz="900" dirty="0">
                <a:solidFill>
                  <a:srgbClr val="7E8A93"/>
                </a:solidFill>
                <a:latin typeface="Consolas" pitchFamily="34" charset="0"/>
                <a:ea typeface="Consolas" pitchFamily="34" charset="-122"/>
                <a:cs typeface="Consolas" pitchFamily="34" charset="-120"/>
              </a:rPr>
              <a:t>sheets 2–3</a:t>
            </a:r>
            <a:endParaRPr lang="en-US" sz="900" dirty="0"/>
          </a:p>
        </p:txBody>
      </p:sp>
      <p:sp>
        <p:nvSpPr>
          <p:cNvPr id="26" name="Shape 24"/>
          <p:cNvSpPr/>
          <p:nvPr/>
        </p:nvSpPr>
        <p:spPr>
          <a:xfrm>
            <a:off x="502920" y="4361688"/>
            <a:ext cx="365760" cy="365760"/>
          </a:xfrm>
          <a:prstGeom prst="rect">
            <a:avLst/>
          </a:prstGeom>
          <a:solidFill>
            <a:srgbClr val="F7F6F2"/>
          </a:solidFill>
          <a:ln w="15875">
            <a:solidFill>
              <a:srgbClr val="C42A1C"/>
            </a:solidFill>
            <a:prstDash val="solid"/>
          </a:ln>
        </p:spPr>
      </p:sp>
      <p:sp>
        <p:nvSpPr>
          <p:cNvPr id="27" name="Text 25"/>
          <p:cNvSpPr/>
          <p:nvPr/>
        </p:nvSpPr>
        <p:spPr>
          <a:xfrm>
            <a:off x="502920" y="4361688"/>
            <a:ext cx="365760" cy="365760"/>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2</a:t>
            </a:r>
            <a:endParaRPr lang="en-US" sz="1500" dirty="0"/>
          </a:p>
        </p:txBody>
      </p:sp>
      <p:sp>
        <p:nvSpPr>
          <p:cNvPr id="28" name="Text 26"/>
          <p:cNvSpPr/>
          <p:nvPr/>
        </p:nvSpPr>
        <p:spPr>
          <a:xfrm>
            <a:off x="987552" y="4379976"/>
            <a:ext cx="4206240" cy="329184"/>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PLANNING &amp; APPROACH</a:t>
            </a:r>
            <a:endParaRPr lang="en-US" sz="1200" dirty="0"/>
          </a:p>
        </p:txBody>
      </p:sp>
      <p:sp>
        <p:nvSpPr>
          <p:cNvPr id="29" name="Text 27"/>
          <p:cNvSpPr/>
          <p:nvPr/>
        </p:nvSpPr>
        <p:spPr>
          <a:xfrm>
            <a:off x="5212080" y="4379976"/>
            <a:ext cx="2011680" cy="329184"/>
          </a:xfrm>
          <a:prstGeom prst="rect">
            <a:avLst/>
          </a:prstGeom>
          <a:noFill/>
          <a:ln/>
        </p:spPr>
        <p:txBody>
          <a:bodyPr wrap="square" lIns="0" tIns="0" rIns="0" bIns="0" rtlCol="0" anchor="ctr"/>
          <a:lstStyle/>
          <a:p>
            <a:pPr indent="0" marL="0">
              <a:buNone/>
            </a:pPr>
            <a:r>
              <a:rPr lang="en-US" sz="900" dirty="0">
                <a:solidFill>
                  <a:srgbClr val="7E8A93"/>
                </a:solidFill>
                <a:latin typeface="Consolas" pitchFamily="34" charset="0"/>
                <a:ea typeface="Consolas" pitchFamily="34" charset="-122"/>
                <a:cs typeface="Consolas" pitchFamily="34" charset="-120"/>
              </a:rPr>
              <a:t>sheets 4–5</a:t>
            </a:r>
            <a:endParaRPr lang="en-US" sz="900" dirty="0"/>
          </a:p>
        </p:txBody>
      </p:sp>
      <p:sp>
        <p:nvSpPr>
          <p:cNvPr id="30" name="Shape 28"/>
          <p:cNvSpPr/>
          <p:nvPr/>
        </p:nvSpPr>
        <p:spPr>
          <a:xfrm>
            <a:off x="502920" y="4837176"/>
            <a:ext cx="365760" cy="365760"/>
          </a:xfrm>
          <a:prstGeom prst="rect">
            <a:avLst/>
          </a:prstGeom>
          <a:solidFill>
            <a:srgbClr val="F7F6F2"/>
          </a:solidFill>
          <a:ln w="15875">
            <a:solidFill>
              <a:srgbClr val="C42A1C"/>
            </a:solidFill>
            <a:prstDash val="solid"/>
          </a:ln>
        </p:spPr>
      </p:sp>
      <p:sp>
        <p:nvSpPr>
          <p:cNvPr id="31" name="Text 29"/>
          <p:cNvSpPr/>
          <p:nvPr/>
        </p:nvSpPr>
        <p:spPr>
          <a:xfrm>
            <a:off x="502920" y="4837176"/>
            <a:ext cx="365760" cy="365760"/>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3</a:t>
            </a:r>
            <a:endParaRPr lang="en-US" sz="1500" dirty="0"/>
          </a:p>
        </p:txBody>
      </p:sp>
      <p:sp>
        <p:nvSpPr>
          <p:cNvPr id="32" name="Text 30"/>
          <p:cNvSpPr/>
          <p:nvPr/>
        </p:nvSpPr>
        <p:spPr>
          <a:xfrm>
            <a:off x="987552" y="4855464"/>
            <a:ext cx="4206240" cy="329184"/>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INNOVATIVENESS</a:t>
            </a:r>
            <a:endParaRPr lang="en-US" sz="1200" dirty="0"/>
          </a:p>
        </p:txBody>
      </p:sp>
      <p:sp>
        <p:nvSpPr>
          <p:cNvPr id="33" name="Text 31"/>
          <p:cNvSpPr/>
          <p:nvPr/>
        </p:nvSpPr>
        <p:spPr>
          <a:xfrm>
            <a:off x="5212080" y="4855464"/>
            <a:ext cx="2011680" cy="329184"/>
          </a:xfrm>
          <a:prstGeom prst="rect">
            <a:avLst/>
          </a:prstGeom>
          <a:noFill/>
          <a:ln/>
        </p:spPr>
        <p:txBody>
          <a:bodyPr wrap="square" lIns="0" tIns="0" rIns="0" bIns="0" rtlCol="0" anchor="ctr"/>
          <a:lstStyle/>
          <a:p>
            <a:pPr indent="0" marL="0">
              <a:buNone/>
            </a:pPr>
            <a:r>
              <a:rPr lang="en-US" sz="900" dirty="0">
                <a:solidFill>
                  <a:srgbClr val="7E8A93"/>
                </a:solidFill>
                <a:latin typeface="Consolas" pitchFamily="34" charset="0"/>
                <a:ea typeface="Consolas" pitchFamily="34" charset="-122"/>
                <a:cs typeface="Consolas" pitchFamily="34" charset="-120"/>
              </a:rPr>
              <a:t>sheets 6–7</a:t>
            </a:r>
            <a:endParaRPr lang="en-US" sz="900" dirty="0"/>
          </a:p>
        </p:txBody>
      </p:sp>
      <p:sp>
        <p:nvSpPr>
          <p:cNvPr id="34" name="Shape 32"/>
          <p:cNvSpPr/>
          <p:nvPr/>
        </p:nvSpPr>
        <p:spPr>
          <a:xfrm>
            <a:off x="502920" y="5312664"/>
            <a:ext cx="365760" cy="365760"/>
          </a:xfrm>
          <a:prstGeom prst="rect">
            <a:avLst/>
          </a:prstGeom>
          <a:solidFill>
            <a:srgbClr val="F7F6F2"/>
          </a:solidFill>
          <a:ln w="15875">
            <a:solidFill>
              <a:srgbClr val="C42A1C"/>
            </a:solidFill>
            <a:prstDash val="solid"/>
          </a:ln>
        </p:spPr>
      </p:sp>
      <p:sp>
        <p:nvSpPr>
          <p:cNvPr id="35" name="Text 33"/>
          <p:cNvSpPr/>
          <p:nvPr/>
        </p:nvSpPr>
        <p:spPr>
          <a:xfrm>
            <a:off x="502920" y="5312664"/>
            <a:ext cx="365760" cy="365760"/>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4</a:t>
            </a:r>
            <a:endParaRPr lang="en-US" sz="1500" dirty="0"/>
          </a:p>
        </p:txBody>
      </p:sp>
      <p:sp>
        <p:nvSpPr>
          <p:cNvPr id="36" name="Text 34"/>
          <p:cNvSpPr/>
          <p:nvPr/>
        </p:nvSpPr>
        <p:spPr>
          <a:xfrm>
            <a:off x="987552" y="5330952"/>
            <a:ext cx="4206240" cy="329184"/>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IMPLEMENTATION DETAILS</a:t>
            </a:r>
            <a:endParaRPr lang="en-US" sz="1200" dirty="0"/>
          </a:p>
        </p:txBody>
      </p:sp>
      <p:sp>
        <p:nvSpPr>
          <p:cNvPr id="37" name="Text 35"/>
          <p:cNvSpPr/>
          <p:nvPr/>
        </p:nvSpPr>
        <p:spPr>
          <a:xfrm>
            <a:off x="5212080" y="5330952"/>
            <a:ext cx="2011680" cy="329184"/>
          </a:xfrm>
          <a:prstGeom prst="rect">
            <a:avLst/>
          </a:prstGeom>
          <a:noFill/>
          <a:ln/>
        </p:spPr>
        <p:txBody>
          <a:bodyPr wrap="square" lIns="0" tIns="0" rIns="0" bIns="0" rtlCol="0" anchor="ctr"/>
          <a:lstStyle/>
          <a:p>
            <a:pPr indent="0" marL="0">
              <a:buNone/>
            </a:pPr>
            <a:r>
              <a:rPr lang="en-US" sz="900" dirty="0">
                <a:solidFill>
                  <a:srgbClr val="7E8A93"/>
                </a:solidFill>
                <a:latin typeface="Consolas" pitchFamily="34" charset="0"/>
                <a:ea typeface="Consolas" pitchFamily="34" charset="-122"/>
                <a:cs typeface="Consolas" pitchFamily="34" charset="-120"/>
              </a:rPr>
              <a:t>sheets 8–9</a:t>
            </a:r>
            <a:endParaRPr lang="en-US" sz="900" dirty="0"/>
          </a:p>
        </p:txBody>
      </p:sp>
      <p:sp>
        <p:nvSpPr>
          <p:cNvPr id="38" name="Shape 36"/>
          <p:cNvSpPr/>
          <p:nvPr/>
        </p:nvSpPr>
        <p:spPr>
          <a:xfrm>
            <a:off x="7589520" y="1508760"/>
            <a:ext cx="4114800" cy="2504973"/>
          </a:xfrm>
          <a:prstGeom prst="rect">
            <a:avLst/>
          </a:prstGeom>
          <a:solidFill>
            <a:srgbClr val="FFFFFF"/>
          </a:solidFill>
          <a:ln w="12700">
            <a:solidFill>
              <a:srgbClr val="D7DDE2"/>
            </a:solidFill>
            <a:prstDash val="solid"/>
          </a:ln>
        </p:spPr>
      </p:sp>
      <p:pic>
        <p:nvPicPr>
          <p:cNvPr id="39" name="Image 0" descr="D:/Work/AETHER/docs/figures/breathing_ellipse.png">    </p:cNvPr>
          <p:cNvPicPr>
            <a:picLocks noChangeAspect="1"/>
          </p:cNvPicPr>
          <p:nvPr/>
        </p:nvPicPr>
        <p:blipFill>
          <a:blip r:embed="rId1"/>
          <a:stretch>
            <a:fillRect/>
          </a:stretch>
        </p:blipFill>
        <p:spPr>
          <a:xfrm>
            <a:off x="7635240" y="1554480"/>
            <a:ext cx="4023360" cy="2413533"/>
          </a:xfrm>
          <a:prstGeom prst="rect">
            <a:avLst/>
          </a:prstGeom>
        </p:spPr>
      </p:pic>
      <p:sp>
        <p:nvSpPr>
          <p:cNvPr id="40" name="Text 37"/>
          <p:cNvSpPr/>
          <p:nvPr/>
        </p:nvSpPr>
        <p:spPr>
          <a:xfrm>
            <a:off x="7635240" y="4004589"/>
            <a:ext cx="4023360" cy="182880"/>
          </a:xfrm>
          <a:prstGeom prst="rect">
            <a:avLst/>
          </a:prstGeom>
          <a:noFill/>
          <a:ln/>
        </p:spPr>
        <p:txBody>
          <a:bodyPr wrap="square" lIns="0" tIns="0" rIns="0" bIns="0" rtlCol="0" anchor="ctr"/>
          <a:lstStyle/>
          <a:p>
            <a:pPr algn="ctr" indent="0" marL="0">
              <a:buNone/>
            </a:pPr>
            <a:r>
              <a:rPr lang="en-US" sz="750" dirty="0">
                <a:solidFill>
                  <a:srgbClr val="7E8A93"/>
                </a:solidFill>
                <a:latin typeface="Consolas" pitchFamily="34" charset="0"/>
                <a:ea typeface="Consolas" pitchFamily="34" charset="-122"/>
                <a:cs typeface="Consolas" pitchFamily="34" charset="-120"/>
              </a:rPr>
              <a:t>offline integrity demo · the bound chasing the moving truth</a:t>
            </a:r>
            <a:endParaRPr lang="en-US" sz="750" dirty="0"/>
          </a:p>
        </p:txBody>
      </p:sp>
      <p:sp>
        <p:nvSpPr>
          <p:cNvPr id="41" name="Text 38"/>
          <p:cNvSpPr/>
          <p:nvPr/>
        </p:nvSpPr>
        <p:spPr>
          <a:xfrm>
            <a:off x="502920" y="5943600"/>
            <a:ext cx="10515600" cy="274320"/>
          </a:xfrm>
          <a:prstGeom prst="rect">
            <a:avLst/>
          </a:prstGeom>
          <a:noFill/>
          <a:ln/>
        </p:spPr>
        <p:txBody>
          <a:bodyPr wrap="square" lIns="0" tIns="0" rIns="0" bIns="0" rtlCol="0" anchor="ctr"/>
          <a:lstStyle/>
          <a:p>
            <a:pPr indent="0" marL="0">
              <a:buNone/>
            </a:pPr>
            <a:r>
              <a:rPr lang="en-US" sz="1000" dirty="0">
                <a:solidFill>
                  <a:srgbClr val="1B2A36"/>
                </a:solidFill>
                <a:latin typeface="Consolas" pitchFamily="34" charset="0"/>
                <a:ea typeface="Consolas" pitchFamily="34" charset="-122"/>
                <a:cs typeface="Consolas" pitchFamily="34" charset="-120"/>
              </a:rPr>
              <a:t>TEAM  Rayyan · Ashitha     REPO  github.com/TheClazer/A.E.T.H.E.R</a:t>
            </a:r>
            <a:endParaRPr lang="en-US" sz="1000" dirty="0"/>
          </a:p>
        </p:txBody>
      </p:sp>
      <p:sp>
        <p:nvSpPr>
          <p:cNvPr id="42" name="Shape 39"/>
          <p:cNvSpPr/>
          <p:nvPr/>
        </p:nvSpPr>
        <p:spPr>
          <a:xfrm>
            <a:off x="502920" y="6400800"/>
            <a:ext cx="11183112" cy="0"/>
          </a:xfrm>
          <a:prstGeom prst="line">
            <a:avLst/>
          </a:prstGeom>
          <a:noFill/>
          <a:ln w="9525">
            <a:solidFill>
              <a:srgbClr val="D7DDE2"/>
            </a:solidFill>
            <a:prstDash val="solid"/>
          </a:ln>
        </p:spPr>
      </p:sp>
      <p:sp>
        <p:nvSpPr>
          <p:cNvPr id="43" name="Text 40"/>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1/10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707624" y="493776"/>
            <a:ext cx="621792" cy="438912"/>
          </a:xfrm>
          <a:prstGeom prst="ellipse">
            <a:avLst/>
          </a:prstGeom>
          <a:solidFill>
            <a:srgbClr val="2E5F84">
              <a:alpha val="0"/>
            </a:srgbClr>
          </a:solidFill>
          <a:ln w="15875">
            <a:solidFill>
              <a:srgbClr val="2E5F84"/>
            </a:solidFill>
            <a:prstDash val="solid"/>
          </a:ln>
        </p:spPr>
      </p:sp>
      <p:sp>
        <p:nvSpPr>
          <p:cNvPr id="12" name="Shape 10"/>
          <p:cNvSpPr/>
          <p:nvPr/>
        </p:nvSpPr>
        <p:spPr>
          <a:xfrm>
            <a:off x="10981944" y="676656"/>
            <a:ext cx="73152" cy="73152"/>
          </a:xfrm>
          <a:prstGeom prst="ellipse">
            <a:avLst/>
          </a:prstGeom>
          <a:solidFill>
            <a:srgbClr val="2F7D4F"/>
          </a:solidFill>
          <a:ln/>
        </p:spPr>
      </p:sp>
      <p:sp>
        <p:nvSpPr>
          <p:cNvPr id="13" name="Text 11"/>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4" name="Text 12"/>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1 · PROBLEM UNDERSTANDING · SHEET 02/10</a:t>
            </a:r>
            <a:endParaRPr lang="en-US" sz="900" dirty="0"/>
          </a:p>
        </p:txBody>
      </p:sp>
      <p:sp>
        <p:nvSpPr>
          <p:cNvPr id="15" name="Text 13"/>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DP7 is an Assured-PNT problem — not a SLAM exercise</a:t>
            </a:r>
            <a:endParaRPr lang="en-US" sz="2400" dirty="0"/>
          </a:p>
        </p:txBody>
      </p:sp>
      <p:sp>
        <p:nvSpPr>
          <p:cNvPr id="16" name="Shape 14"/>
          <p:cNvSpPr/>
          <p:nvPr/>
        </p:nvSpPr>
        <p:spPr>
          <a:xfrm>
            <a:off x="502920" y="1572768"/>
            <a:ext cx="4754880" cy="960120"/>
          </a:xfrm>
          <a:prstGeom prst="rect">
            <a:avLst/>
          </a:prstGeom>
          <a:solidFill>
            <a:srgbClr val="FFFFFF"/>
          </a:solidFill>
          <a:ln w="12700">
            <a:solidFill>
              <a:srgbClr val="D7DDE2"/>
            </a:solidFill>
            <a:prstDash val="solid"/>
          </a:ln>
        </p:spPr>
      </p:sp>
      <p:sp>
        <p:nvSpPr>
          <p:cNvPr id="17" name="Text 15"/>
          <p:cNvSpPr/>
          <p:nvPr/>
        </p:nvSpPr>
        <p:spPr>
          <a:xfrm>
            <a:off x="658368" y="1664208"/>
            <a:ext cx="3657600" cy="219456"/>
          </a:xfrm>
          <a:prstGeom prst="rect">
            <a:avLst/>
          </a:prstGeom>
          <a:noFill/>
          <a:ln/>
        </p:spPr>
        <p:txBody>
          <a:bodyPr wrap="square" lIns="0" tIns="0" rIns="0" bIns="0" rtlCol="0" anchor="ctr"/>
          <a:lstStyle/>
          <a:p>
            <a:pPr indent="0" marL="0">
              <a:buNone/>
            </a:pPr>
            <a:r>
              <a:rPr lang="en-US" sz="900" b="1" spc="200" kern="0" dirty="0">
                <a:solidFill>
                  <a:srgbClr val="2E5F84"/>
                </a:solidFill>
                <a:latin typeface="Consolas" pitchFamily="34" charset="0"/>
                <a:ea typeface="Consolas" pitchFamily="34" charset="-122"/>
                <a:cs typeface="Consolas" pitchFamily="34" charset="-120"/>
              </a:rPr>
              <a:t>DP7 SPEC</a:t>
            </a:r>
            <a:endParaRPr lang="en-US" sz="900" dirty="0"/>
          </a:p>
        </p:txBody>
      </p:sp>
      <p:sp>
        <p:nvSpPr>
          <p:cNvPr id="18" name="Text 16"/>
          <p:cNvSpPr/>
          <p:nvPr/>
        </p:nvSpPr>
        <p:spPr>
          <a:xfrm>
            <a:off x="658368" y="1883664"/>
            <a:ext cx="4434840" cy="594360"/>
          </a:xfrm>
          <a:prstGeom prst="rect">
            <a:avLst/>
          </a:prstGeom>
          <a:noFill/>
          <a:ln/>
        </p:spPr>
        <p:txBody>
          <a:bodyPr wrap="square" lIns="0" tIns="0" rIns="0" bIns="0" rtlCol="0" anchor="ctr"/>
          <a:lstStyle/>
          <a:p>
            <a:pPr indent="0" marL="0">
              <a:lnSpc>
                <a:spcPts val="1300"/>
              </a:lnSpc>
              <a:buNone/>
            </a:pPr>
            <a:r>
              <a:rPr lang="en-US" sz="900" dirty="0">
                <a:solidFill>
                  <a:srgbClr val="1B2A36"/>
                </a:solidFill>
                <a:latin typeface="Consolas" pitchFamily="34" charset="0"/>
                <a:ea typeface="Consolas" pitchFamily="34" charset="-122"/>
                <a:cs typeface="Consolas" pitchFamily="34" charset="-120"/>
              </a:rPr>
              <a:t>GNSS-denied tunnel/warehouse · drift &lt; 1.5% / 200 m · ROS2 + Gazebo · estimate-vs-ground-truth report · documented ROS2 workspace</a:t>
            </a:r>
            <a:endParaRPr lang="en-US" sz="900" dirty="0"/>
          </a:p>
        </p:txBody>
      </p:sp>
      <p:sp>
        <p:nvSpPr>
          <p:cNvPr id="19" name="Text 17"/>
          <p:cNvSpPr/>
          <p:nvPr/>
        </p:nvSpPr>
        <p:spPr>
          <a:xfrm>
            <a:off x="502920" y="2697480"/>
            <a:ext cx="4754880" cy="777240"/>
          </a:xfrm>
          <a:prstGeom prst="rect">
            <a:avLst/>
          </a:prstGeom>
          <a:noFill/>
          <a:ln/>
        </p:spPr>
        <p:txBody>
          <a:bodyPr wrap="square" lIns="0" tIns="0" rIns="0" bIns="0" rtlCol="0" anchor="ctr"/>
          <a:lstStyle/>
          <a:p>
            <a:pPr indent="0" marL="0">
              <a:lnSpc>
                <a:spcPts val="1800"/>
              </a:lnSpc>
              <a:buNone/>
            </a:pPr>
            <a:r>
              <a:rPr lang="en-US" sz="1350" i="1" dirty="0">
                <a:solidFill>
                  <a:srgbClr val="1B2A36"/>
                </a:solidFill>
                <a:latin typeface="Georgia" pitchFamily="34" charset="0"/>
                <a:ea typeface="Georgia" pitchFamily="34" charset="-122"/>
                <a:cs typeface="Georgia" pitchFamily="34" charset="-120"/>
              </a:rPr>
              <a:t>“Everyone can plot a trajectory. The unsolved question is — how wrong am I right now, and do I know it in time?”</a:t>
            </a:r>
            <a:endParaRPr lang="en-US" sz="1350" dirty="0"/>
          </a:p>
        </p:txBody>
      </p:sp>
      <p:sp>
        <p:nvSpPr>
          <p:cNvPr id="20" name="Text 18"/>
          <p:cNvSpPr/>
          <p:nvPr/>
        </p:nvSpPr>
        <p:spPr>
          <a:xfrm>
            <a:off x="502920" y="3611880"/>
            <a:ext cx="475488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THE NUMBER, DECODED</a:t>
            </a:r>
            <a:endParaRPr lang="en-US" sz="950" dirty="0"/>
          </a:p>
        </p:txBody>
      </p:sp>
      <p:sp>
        <p:nvSpPr>
          <p:cNvPr id="21" name="Text 19"/>
          <p:cNvSpPr/>
          <p:nvPr/>
        </p:nvSpPr>
        <p:spPr>
          <a:xfrm>
            <a:off x="502920" y="3849624"/>
            <a:ext cx="4754880" cy="67665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1.5% / 200 m is the KITTI segment-RPE metric ⇒ ≤ 3.0 m terminal error. Off-the-shelf VIO already clears it — it is a FLOOR (80–90% of teams hit it), not the goal.</a:t>
            </a:r>
            <a:endParaRPr lang="en-US" sz="1000" dirty="0"/>
          </a:p>
        </p:txBody>
      </p:sp>
      <p:sp>
        <p:nvSpPr>
          <p:cNvPr id="22" name="Text 20"/>
          <p:cNvSpPr/>
          <p:nvPr/>
        </p:nvSpPr>
        <p:spPr>
          <a:xfrm>
            <a:off x="502920" y="4617720"/>
            <a:ext cx="475488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SIX INDOOR FAILURE MODES WE NAME</a:t>
            </a:r>
            <a:endParaRPr lang="en-US" sz="950" dirty="0"/>
          </a:p>
        </p:txBody>
      </p:sp>
      <p:sp>
        <p:nvSpPr>
          <p:cNvPr id="23" name="Text 21"/>
          <p:cNvSpPr/>
          <p:nvPr/>
        </p:nvSpPr>
        <p:spPr>
          <a:xfrm>
            <a:off x="502920" y="4855464"/>
            <a:ext cx="4754880" cy="131673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low/repetitive wall texture · self-similar corridors (single + correlated mismatch) · poor/dynamic lighting · motion blur · observability degeneracy (scale unobservable in straight flight) · vision outage → inertial dead-reckoning. Each gets a bound that protects it.</a:t>
            </a:r>
            <a:endParaRPr lang="en-US" sz="1000" dirty="0"/>
          </a:p>
        </p:txBody>
      </p:sp>
      <p:sp>
        <p:nvSpPr>
          <p:cNvPr id="24" name="Shape 22"/>
          <p:cNvSpPr/>
          <p:nvPr/>
        </p:nvSpPr>
        <p:spPr>
          <a:xfrm>
            <a:off x="5669280" y="1737360"/>
            <a:ext cx="5989320" cy="2786998"/>
          </a:xfrm>
          <a:prstGeom prst="rect">
            <a:avLst/>
          </a:prstGeom>
          <a:solidFill>
            <a:srgbClr val="FFFFFF"/>
          </a:solidFill>
          <a:ln w="12700">
            <a:solidFill>
              <a:srgbClr val="D7DDE2"/>
            </a:solidFill>
            <a:prstDash val="solid"/>
          </a:ln>
        </p:spPr>
      </p:sp>
      <p:pic>
        <p:nvPicPr>
          <p:cNvPr id="25" name="Image 0" descr="D:/Work/AETHER/docs/figures/drift_curve.png">    </p:cNvPr>
          <p:cNvPicPr>
            <a:picLocks noChangeAspect="1"/>
          </p:cNvPicPr>
          <p:nvPr/>
        </p:nvPicPr>
        <p:blipFill>
          <a:blip r:embed="rId1"/>
          <a:stretch>
            <a:fillRect/>
          </a:stretch>
        </p:blipFill>
        <p:spPr>
          <a:xfrm>
            <a:off x="5715000" y="1783080"/>
            <a:ext cx="5897880" cy="2695558"/>
          </a:xfrm>
          <a:prstGeom prst="rect">
            <a:avLst/>
          </a:prstGeom>
        </p:spPr>
      </p:pic>
      <p:sp>
        <p:nvSpPr>
          <p:cNvPr id="26" name="Text 23"/>
          <p:cNvSpPr/>
          <p:nvPr/>
        </p:nvSpPr>
        <p:spPr>
          <a:xfrm>
            <a:off x="5715000" y="4515214"/>
            <a:ext cx="5897880" cy="182880"/>
          </a:xfrm>
          <a:prstGeom prst="rect">
            <a:avLst/>
          </a:prstGeom>
          <a:noFill/>
          <a:ln/>
        </p:spPr>
        <p:txBody>
          <a:bodyPr wrap="square" lIns="0" tIns="0" rIns="0" bIns="0" rtlCol="0" anchor="ctr"/>
          <a:lstStyle/>
          <a:p>
            <a:pPr algn="ctr" indent="0" marL="0">
              <a:buNone/>
            </a:pPr>
            <a:r>
              <a:rPr lang="en-US" sz="750" dirty="0">
                <a:solidFill>
                  <a:srgbClr val="7E8A93"/>
                </a:solidFill>
                <a:latin typeface="Consolas" pitchFamily="34" charset="0"/>
                <a:ea typeface="Consolas" pitchFamily="34" charset="-122"/>
                <a:cs typeface="Consolas" pitchFamily="34" charset="-120"/>
              </a:rPr>
              <a:t>Fig. — translational drift held under the 1.5% / 200 m limit (illustrative target)</a:t>
            </a:r>
            <a:endParaRPr lang="en-US" sz="750" dirty="0"/>
          </a:p>
        </p:txBody>
      </p:sp>
      <p:sp>
        <p:nvSpPr>
          <p:cNvPr id="27" name="Shape 24"/>
          <p:cNvSpPr/>
          <p:nvPr/>
        </p:nvSpPr>
        <p:spPr>
          <a:xfrm>
            <a:off x="502920" y="6400800"/>
            <a:ext cx="11183112" cy="0"/>
          </a:xfrm>
          <a:prstGeom prst="line">
            <a:avLst/>
          </a:prstGeom>
          <a:noFill/>
          <a:ln w="9525">
            <a:solidFill>
              <a:srgbClr val="D7DDE2"/>
            </a:solidFill>
            <a:prstDash val="solid"/>
          </a:ln>
        </p:spPr>
      </p:sp>
      <p:sp>
        <p:nvSpPr>
          <p:cNvPr id="28" name="Text 25"/>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2/10</a:t>
            </a:r>
            <a:endParaRPr lang="en-US" sz="800" dirty="0"/>
          </a:p>
        </p:txBody>
      </p:sp>
      <p:sp>
        <p:nvSpPr>
          <p:cNvPr id="29" name="Text 26"/>
          <p:cNvSpPr/>
          <p:nvPr/>
        </p:nvSpPr>
        <p:spPr>
          <a:xfrm>
            <a:off x="6400800" y="6437376"/>
            <a:ext cx="5285232" cy="237744"/>
          </a:xfrm>
          <a:prstGeom prst="rect">
            <a:avLst/>
          </a:prstGeom>
          <a:noFill/>
          <a:ln/>
        </p:spPr>
        <p:txBody>
          <a:bodyPr wrap="square" lIns="0" tIns="0" rIns="0" bIns="0" rtlCol="0" anchor="ctr"/>
          <a:lstStyle/>
          <a:p>
            <a:pPr algn="r" indent="0" marL="0">
              <a:buNone/>
            </a:pPr>
            <a:r>
              <a:rPr lang="en-US" sz="800" spc="100" kern="0" dirty="0">
                <a:solidFill>
                  <a:srgbClr val="7E8A93"/>
                </a:solidFill>
                <a:latin typeface="Consolas" pitchFamily="34" charset="0"/>
                <a:ea typeface="Consolas" pitchFamily="34" charset="-122"/>
                <a:cs typeface="Consolas" pitchFamily="34" charset="-120"/>
              </a:rPr>
              <a:t>FIGURES: SYNTHETIC VALIDATION RIG — ILLUSTRATIVE / TARGET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707624" y="493776"/>
            <a:ext cx="621792" cy="438912"/>
          </a:xfrm>
          <a:prstGeom prst="ellipse">
            <a:avLst/>
          </a:prstGeom>
          <a:solidFill>
            <a:srgbClr val="2E5F84">
              <a:alpha val="0"/>
            </a:srgbClr>
          </a:solidFill>
          <a:ln w="15875">
            <a:solidFill>
              <a:srgbClr val="2E5F84"/>
            </a:solidFill>
            <a:prstDash val="solid"/>
          </a:ln>
        </p:spPr>
      </p:sp>
      <p:sp>
        <p:nvSpPr>
          <p:cNvPr id="12" name="Shape 10"/>
          <p:cNvSpPr/>
          <p:nvPr/>
        </p:nvSpPr>
        <p:spPr>
          <a:xfrm>
            <a:off x="10981944" y="676656"/>
            <a:ext cx="73152" cy="73152"/>
          </a:xfrm>
          <a:prstGeom prst="ellipse">
            <a:avLst/>
          </a:prstGeom>
          <a:solidFill>
            <a:srgbClr val="2F7D4F"/>
          </a:solidFill>
          <a:ln/>
        </p:spPr>
      </p:sp>
      <p:sp>
        <p:nvSpPr>
          <p:cNvPr id="13" name="Text 11"/>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4" name="Text 12"/>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1 · PROBLEM UNDERSTANDING · SHEET 03/10</a:t>
            </a:r>
            <a:endParaRPr lang="en-US" sz="900" dirty="0"/>
          </a:p>
        </p:txBody>
      </p:sp>
      <p:sp>
        <p:nvSpPr>
          <p:cNvPr id="15" name="Text 13"/>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Why GPS-denied navigation matters to Honeywell</a:t>
            </a:r>
            <a:endParaRPr lang="en-US" sz="2400" dirty="0"/>
          </a:p>
        </p:txBody>
      </p:sp>
      <p:sp>
        <p:nvSpPr>
          <p:cNvPr id="16" name="Text 14"/>
          <p:cNvSpPr/>
          <p:nvPr/>
        </p:nvSpPr>
        <p:spPr>
          <a:xfrm>
            <a:off x="502920" y="1554480"/>
            <a:ext cx="10972800" cy="457200"/>
          </a:xfrm>
          <a:prstGeom prst="rect">
            <a:avLst/>
          </a:prstGeom>
          <a:noFill/>
          <a:ln/>
        </p:spPr>
        <p:txBody>
          <a:bodyPr wrap="square" lIns="0" tIns="0" rIns="0" bIns="0" rtlCol="0" anchor="ctr"/>
          <a:lstStyle/>
          <a:p>
            <a:pPr indent="0" marL="0">
              <a:buNone/>
            </a:pPr>
            <a:r>
              <a:rPr lang="en-US" sz="1900" dirty="0">
                <a:solidFill>
                  <a:srgbClr val="1B2A36"/>
                </a:solidFill>
                <a:latin typeface="Georgia" pitchFamily="34" charset="0"/>
                <a:ea typeface="Georgia" pitchFamily="34" charset="-122"/>
                <a:cs typeface="Georgia" pitchFamily="34" charset="-120"/>
              </a:rPr>
              <a:t>Accuracy is table-stakes.  </a:t>
            </a:r>
            <a:pPr indent="0" marL="0">
              <a:buNone/>
            </a:pPr>
            <a:r>
              <a:rPr lang="en-US" sz="1900" b="1" dirty="0">
                <a:solidFill>
                  <a:srgbClr val="C42A1C"/>
                </a:solidFill>
                <a:latin typeface="Georgia" pitchFamily="34" charset="0"/>
                <a:ea typeface="Georgia" pitchFamily="34" charset="-122"/>
                <a:cs typeface="Georgia" pitchFamily="34" charset="-120"/>
              </a:rPr>
              <a:t>Trust is the differentiator.</a:t>
            </a:r>
            <a:endParaRPr lang="en-US" sz="1900" dirty="0"/>
          </a:p>
        </p:txBody>
      </p:sp>
      <p:sp>
        <p:nvSpPr>
          <p:cNvPr id="17" name="Shape 15"/>
          <p:cNvSpPr/>
          <p:nvPr/>
        </p:nvSpPr>
        <p:spPr>
          <a:xfrm>
            <a:off x="502920" y="2103120"/>
            <a:ext cx="3474720" cy="1828800"/>
          </a:xfrm>
          <a:prstGeom prst="rect">
            <a:avLst/>
          </a:prstGeom>
          <a:solidFill>
            <a:srgbClr val="FFFFFF"/>
          </a:solidFill>
          <a:ln w="12700">
            <a:solidFill>
              <a:srgbClr val="D7DDE2"/>
            </a:solidFill>
            <a:prstDash val="solid"/>
          </a:ln>
        </p:spPr>
      </p:sp>
      <p:sp>
        <p:nvSpPr>
          <p:cNvPr id="18" name="Shape 16"/>
          <p:cNvSpPr/>
          <p:nvPr/>
        </p:nvSpPr>
        <p:spPr>
          <a:xfrm>
            <a:off x="502920" y="2103120"/>
            <a:ext cx="50292" cy="1828800"/>
          </a:xfrm>
          <a:prstGeom prst="rect">
            <a:avLst/>
          </a:prstGeom>
          <a:solidFill>
            <a:srgbClr val="C42A1C"/>
          </a:solidFill>
          <a:ln/>
        </p:spPr>
      </p:sp>
      <p:sp>
        <p:nvSpPr>
          <p:cNvPr id="19" name="Text 17"/>
          <p:cNvSpPr/>
          <p:nvPr/>
        </p:nvSpPr>
        <p:spPr>
          <a:xfrm>
            <a:off x="740664" y="2249424"/>
            <a:ext cx="3108960" cy="365760"/>
          </a:xfrm>
          <a:prstGeom prst="rect">
            <a:avLst/>
          </a:prstGeom>
          <a:noFill/>
          <a:ln/>
        </p:spPr>
        <p:txBody>
          <a:bodyPr wrap="square" lIns="0" tIns="0" rIns="0" bIns="0" rtlCol="0" anchor="ctr"/>
          <a:lstStyle/>
          <a:p>
            <a:pPr indent="0" marL="0">
              <a:buNone/>
            </a:pPr>
            <a:r>
              <a:rPr lang="en-US" sz="1600" b="1" dirty="0">
                <a:solidFill>
                  <a:srgbClr val="C42A1C"/>
                </a:solidFill>
                <a:latin typeface="Georgia" pitchFamily="34" charset="0"/>
                <a:ea typeface="Georgia" pitchFamily="34" charset="-122"/>
                <a:cs typeface="Georgia" pitchFamily="34" charset="-120"/>
              </a:rPr>
              <a:t>HANA</a:t>
            </a:r>
            <a:endParaRPr lang="en-US" sz="1600" dirty="0"/>
          </a:p>
        </p:txBody>
      </p:sp>
      <p:sp>
        <p:nvSpPr>
          <p:cNvPr id="20" name="Text 18"/>
          <p:cNvSpPr/>
          <p:nvPr/>
        </p:nvSpPr>
        <p:spPr>
          <a:xfrm>
            <a:off x="740664" y="2651760"/>
            <a:ext cx="3072384" cy="960120"/>
          </a:xfrm>
          <a:prstGeom prst="rect">
            <a:avLst/>
          </a:prstGeom>
          <a:noFill/>
          <a:ln/>
        </p:spPr>
        <p:txBody>
          <a:bodyPr wrap="square" lIns="0" tIns="0" rIns="0" bIns="0" rtlCol="0" anchor="ctr"/>
          <a:lstStyle/>
          <a:p>
            <a:pPr indent="0" marL="0">
              <a:lnSpc>
                <a:spcPts val="1300"/>
              </a:lnSpc>
              <a:buNone/>
            </a:pPr>
            <a:r>
              <a:rPr lang="en-US" sz="980" dirty="0">
                <a:solidFill>
                  <a:srgbClr val="1B2A36"/>
                </a:solidFill>
                <a:latin typeface="Segoe UI" pitchFamily="34" charset="0"/>
                <a:ea typeface="Segoe UI" pitchFamily="34" charset="-122"/>
                <a:cs typeface="Segoe UI" pitchFamily="34" charset="-120"/>
              </a:rPr>
              <a:t>Honeywell Alternative Navigation Architecture (Oct 2025): software, layered, INS + aiding modalities. First release = vision-aided nav.</a:t>
            </a:r>
            <a:endParaRPr lang="en-US" sz="980" dirty="0"/>
          </a:p>
        </p:txBody>
      </p:sp>
      <p:sp>
        <p:nvSpPr>
          <p:cNvPr id="21" name="Text 19"/>
          <p:cNvSpPr/>
          <p:nvPr/>
        </p:nvSpPr>
        <p:spPr>
          <a:xfrm>
            <a:off x="740664" y="3621024"/>
            <a:ext cx="3072384" cy="274320"/>
          </a:xfrm>
          <a:prstGeom prst="rect">
            <a:avLst/>
          </a:prstGeom>
          <a:noFill/>
          <a:ln/>
        </p:spPr>
        <p:txBody>
          <a:bodyPr wrap="square" lIns="0" tIns="0" rIns="0" bIns="0" rtlCol="0" anchor="ctr"/>
          <a:lstStyle/>
          <a:p>
            <a:pPr indent="0" marL="0">
              <a:buNone/>
            </a:pPr>
            <a:r>
              <a:rPr lang="en-US" sz="950" i="1" dirty="0">
                <a:solidFill>
                  <a:srgbClr val="2E5F84"/>
                </a:solidFill>
                <a:latin typeface="Segoe UI" pitchFamily="34" charset="0"/>
                <a:ea typeface="Segoe UI" pitchFamily="34" charset="-122"/>
                <a:cs typeface="Segoe UI" pitchFamily="34" charset="-120"/>
              </a:rPr>
              <a:t>The judges built this.</a:t>
            </a:r>
            <a:endParaRPr lang="en-US" sz="950" dirty="0"/>
          </a:p>
        </p:txBody>
      </p:sp>
      <p:sp>
        <p:nvSpPr>
          <p:cNvPr id="22" name="Shape 20"/>
          <p:cNvSpPr/>
          <p:nvPr/>
        </p:nvSpPr>
        <p:spPr>
          <a:xfrm>
            <a:off x="4224528" y="2103120"/>
            <a:ext cx="3474720" cy="1828800"/>
          </a:xfrm>
          <a:prstGeom prst="rect">
            <a:avLst/>
          </a:prstGeom>
          <a:solidFill>
            <a:srgbClr val="FFFFFF"/>
          </a:solidFill>
          <a:ln w="12700">
            <a:solidFill>
              <a:srgbClr val="D7DDE2"/>
            </a:solidFill>
            <a:prstDash val="solid"/>
          </a:ln>
        </p:spPr>
      </p:sp>
      <p:sp>
        <p:nvSpPr>
          <p:cNvPr id="23" name="Shape 21"/>
          <p:cNvSpPr/>
          <p:nvPr/>
        </p:nvSpPr>
        <p:spPr>
          <a:xfrm>
            <a:off x="4224528" y="2103120"/>
            <a:ext cx="50292" cy="1828800"/>
          </a:xfrm>
          <a:prstGeom prst="rect">
            <a:avLst/>
          </a:prstGeom>
          <a:solidFill>
            <a:srgbClr val="C42A1C"/>
          </a:solidFill>
          <a:ln/>
        </p:spPr>
      </p:sp>
      <p:sp>
        <p:nvSpPr>
          <p:cNvPr id="24" name="Text 22"/>
          <p:cNvSpPr/>
          <p:nvPr/>
        </p:nvSpPr>
        <p:spPr>
          <a:xfrm>
            <a:off x="4462272" y="2249424"/>
            <a:ext cx="3108960" cy="365760"/>
          </a:xfrm>
          <a:prstGeom prst="rect">
            <a:avLst/>
          </a:prstGeom>
          <a:noFill/>
          <a:ln/>
        </p:spPr>
        <p:txBody>
          <a:bodyPr wrap="square" lIns="0" tIns="0" rIns="0" bIns="0" rtlCol="0" anchor="ctr"/>
          <a:lstStyle/>
          <a:p>
            <a:pPr indent="0" marL="0">
              <a:buNone/>
            </a:pPr>
            <a:r>
              <a:rPr lang="en-US" sz="1600" b="1" dirty="0">
                <a:solidFill>
                  <a:srgbClr val="C42A1C"/>
                </a:solidFill>
                <a:latin typeface="Georgia" pitchFamily="34" charset="0"/>
                <a:ea typeface="Georgia" pitchFamily="34" charset="-122"/>
                <a:cs typeface="Georgia" pitchFamily="34" charset="-120"/>
              </a:rPr>
              <a:t>MagNav</a:t>
            </a:r>
            <a:endParaRPr lang="en-US" sz="1600" dirty="0"/>
          </a:p>
        </p:txBody>
      </p:sp>
      <p:sp>
        <p:nvSpPr>
          <p:cNvPr id="25" name="Text 23"/>
          <p:cNvSpPr/>
          <p:nvPr/>
        </p:nvSpPr>
        <p:spPr>
          <a:xfrm>
            <a:off x="4462272" y="2651760"/>
            <a:ext cx="3072384" cy="960120"/>
          </a:xfrm>
          <a:prstGeom prst="rect">
            <a:avLst/>
          </a:prstGeom>
          <a:noFill/>
          <a:ln/>
        </p:spPr>
        <p:txBody>
          <a:bodyPr wrap="square" lIns="0" tIns="0" rIns="0" bIns="0" rtlCol="0" anchor="ctr"/>
          <a:lstStyle/>
          <a:p>
            <a:pPr indent="0" marL="0">
              <a:lnSpc>
                <a:spcPts val="1300"/>
              </a:lnSpc>
              <a:buNone/>
            </a:pPr>
            <a:r>
              <a:rPr lang="en-US" sz="980" dirty="0">
                <a:solidFill>
                  <a:srgbClr val="1B2A36"/>
                </a:solidFill>
                <a:latin typeface="Segoe UI" pitchFamily="34" charset="0"/>
                <a:ea typeface="Segoe UI" pitchFamily="34" charset="-122"/>
                <a:cs typeface="Segoe UI" pitchFamily="34" charset="-120"/>
              </a:rPr>
              <a:t>Magnetic-anomaly aided nav flown on an Embraer E170 at 25 m CEP50 in GPS-denied flight — passive, un-jammable.</a:t>
            </a:r>
            <a:endParaRPr lang="en-US" sz="980" dirty="0"/>
          </a:p>
        </p:txBody>
      </p:sp>
      <p:sp>
        <p:nvSpPr>
          <p:cNvPr id="26" name="Text 24"/>
          <p:cNvSpPr/>
          <p:nvPr/>
        </p:nvSpPr>
        <p:spPr>
          <a:xfrm>
            <a:off x="4462272" y="3621024"/>
            <a:ext cx="3072384" cy="274320"/>
          </a:xfrm>
          <a:prstGeom prst="rect">
            <a:avLst/>
          </a:prstGeom>
          <a:noFill/>
          <a:ln/>
        </p:spPr>
        <p:txBody>
          <a:bodyPr wrap="square" lIns="0" tIns="0" rIns="0" bIns="0" rtlCol="0" anchor="ctr"/>
          <a:lstStyle/>
          <a:p>
            <a:pPr indent="0" marL="0">
              <a:buNone/>
            </a:pPr>
            <a:r>
              <a:rPr lang="en-US" sz="950" i="1" dirty="0">
                <a:solidFill>
                  <a:srgbClr val="2E5F84"/>
                </a:solidFill>
                <a:latin typeface="Segoe UI" pitchFamily="34" charset="0"/>
                <a:ea typeface="Segoe UI" pitchFamily="34" charset="-122"/>
                <a:cs typeface="Segoe UI" pitchFamily="34" charset="-120"/>
              </a:rPr>
              <a:t>Bounded alt-PNT, proven.</a:t>
            </a:r>
            <a:endParaRPr lang="en-US" sz="950" dirty="0"/>
          </a:p>
        </p:txBody>
      </p:sp>
      <p:sp>
        <p:nvSpPr>
          <p:cNvPr id="27" name="Shape 25"/>
          <p:cNvSpPr/>
          <p:nvPr/>
        </p:nvSpPr>
        <p:spPr>
          <a:xfrm>
            <a:off x="7946136" y="2103120"/>
            <a:ext cx="3474720" cy="1828800"/>
          </a:xfrm>
          <a:prstGeom prst="rect">
            <a:avLst/>
          </a:prstGeom>
          <a:solidFill>
            <a:srgbClr val="FFFFFF"/>
          </a:solidFill>
          <a:ln w="12700">
            <a:solidFill>
              <a:srgbClr val="D7DDE2"/>
            </a:solidFill>
            <a:prstDash val="solid"/>
          </a:ln>
        </p:spPr>
      </p:sp>
      <p:sp>
        <p:nvSpPr>
          <p:cNvPr id="28" name="Shape 26"/>
          <p:cNvSpPr/>
          <p:nvPr/>
        </p:nvSpPr>
        <p:spPr>
          <a:xfrm>
            <a:off x="7946136" y="2103120"/>
            <a:ext cx="50292" cy="1828800"/>
          </a:xfrm>
          <a:prstGeom prst="rect">
            <a:avLst/>
          </a:prstGeom>
          <a:solidFill>
            <a:srgbClr val="C42A1C"/>
          </a:solidFill>
          <a:ln/>
        </p:spPr>
      </p:sp>
      <p:sp>
        <p:nvSpPr>
          <p:cNvPr id="29" name="Text 27"/>
          <p:cNvSpPr/>
          <p:nvPr/>
        </p:nvSpPr>
        <p:spPr>
          <a:xfrm>
            <a:off x="8183880" y="2249424"/>
            <a:ext cx="3108960" cy="365760"/>
          </a:xfrm>
          <a:prstGeom prst="rect">
            <a:avLst/>
          </a:prstGeom>
          <a:noFill/>
          <a:ln/>
        </p:spPr>
        <p:txBody>
          <a:bodyPr wrap="square" lIns="0" tIns="0" rIns="0" bIns="0" rtlCol="0" anchor="ctr"/>
          <a:lstStyle/>
          <a:p>
            <a:pPr indent="0" marL="0">
              <a:buNone/>
            </a:pPr>
            <a:r>
              <a:rPr lang="en-US" sz="1600" b="1" dirty="0">
                <a:solidFill>
                  <a:srgbClr val="C42A1C"/>
                </a:solidFill>
                <a:latin typeface="Georgia" pitchFamily="34" charset="0"/>
                <a:ea typeface="Georgia" pitchFamily="34" charset="-122"/>
                <a:cs typeface="Georgia" pitchFamily="34" charset="-120"/>
              </a:rPr>
              <a:t>APEX 2025</a:t>
            </a:r>
            <a:endParaRPr lang="en-US" sz="1600" dirty="0"/>
          </a:p>
        </p:txBody>
      </p:sp>
      <p:sp>
        <p:nvSpPr>
          <p:cNvPr id="30" name="Text 28"/>
          <p:cNvSpPr/>
          <p:nvPr/>
        </p:nvSpPr>
        <p:spPr>
          <a:xfrm>
            <a:off x="8183880" y="2651760"/>
            <a:ext cx="3072384" cy="960120"/>
          </a:xfrm>
          <a:prstGeom prst="rect">
            <a:avLst/>
          </a:prstGeom>
          <a:noFill/>
          <a:ln/>
        </p:spPr>
        <p:txBody>
          <a:bodyPr wrap="square" lIns="0" tIns="0" rIns="0" bIns="0" rtlCol="0" anchor="ctr"/>
          <a:lstStyle/>
          <a:p>
            <a:pPr indent="0" marL="0">
              <a:lnSpc>
                <a:spcPts val="1300"/>
              </a:lnSpc>
              <a:buNone/>
            </a:pPr>
            <a:r>
              <a:rPr lang="en-US" sz="980" dirty="0">
                <a:solidFill>
                  <a:srgbClr val="1B2A36"/>
                </a:solidFill>
                <a:latin typeface="Segoe UI" pitchFamily="34" charset="0"/>
                <a:ea typeface="Segoe UI" pitchFamily="34" charset="-122"/>
                <a:cs typeface="Segoe UI" pitchFamily="34" charset="-120"/>
              </a:rPr>
              <a:t>U.S. Army resilient-navigation demo (White Sands): vision / magnetic / LEO fused with high-grade INS.</a:t>
            </a:r>
            <a:endParaRPr lang="en-US" sz="980" dirty="0"/>
          </a:p>
        </p:txBody>
      </p:sp>
      <p:sp>
        <p:nvSpPr>
          <p:cNvPr id="31" name="Text 29"/>
          <p:cNvSpPr/>
          <p:nvPr/>
        </p:nvSpPr>
        <p:spPr>
          <a:xfrm>
            <a:off x="8183880" y="3621024"/>
            <a:ext cx="3072384" cy="274320"/>
          </a:xfrm>
          <a:prstGeom prst="rect">
            <a:avLst/>
          </a:prstGeom>
          <a:noFill/>
          <a:ln/>
        </p:spPr>
        <p:txBody>
          <a:bodyPr wrap="square" lIns="0" tIns="0" rIns="0" bIns="0" rtlCol="0" anchor="ctr"/>
          <a:lstStyle/>
          <a:p>
            <a:pPr indent="0" marL="0">
              <a:buNone/>
            </a:pPr>
            <a:r>
              <a:rPr lang="en-US" sz="950" i="1" dirty="0">
                <a:solidFill>
                  <a:srgbClr val="2E5F84"/>
                </a:solidFill>
                <a:latin typeface="Segoe UI" pitchFamily="34" charset="0"/>
                <a:ea typeface="Segoe UI" pitchFamily="34" charset="-122"/>
                <a:cs typeface="Segoe UI" pitchFamily="34" charset="-120"/>
              </a:rPr>
              <a:t>An active battleground.</a:t>
            </a:r>
            <a:endParaRPr lang="en-US" sz="950" dirty="0"/>
          </a:p>
        </p:txBody>
      </p:sp>
      <p:sp>
        <p:nvSpPr>
          <p:cNvPr id="32" name="Shape 30"/>
          <p:cNvSpPr/>
          <p:nvPr/>
        </p:nvSpPr>
        <p:spPr>
          <a:xfrm>
            <a:off x="1280160" y="4297680"/>
            <a:ext cx="0" cy="1645920"/>
          </a:xfrm>
          <a:prstGeom prst="line">
            <a:avLst/>
          </a:prstGeom>
          <a:noFill/>
          <a:ln w="38100">
            <a:solidFill>
              <a:srgbClr val="2E5F84"/>
            </a:solidFill>
            <a:prstDash val="solid"/>
          </a:ln>
        </p:spPr>
      </p:sp>
      <p:sp>
        <p:nvSpPr>
          <p:cNvPr id="33" name="Text 31"/>
          <p:cNvSpPr/>
          <p:nvPr/>
        </p:nvSpPr>
        <p:spPr>
          <a:xfrm>
            <a:off x="365760" y="5989320"/>
            <a:ext cx="2194560" cy="219456"/>
          </a:xfrm>
          <a:prstGeom prst="rect">
            <a:avLst/>
          </a:prstGeom>
          <a:noFill/>
          <a:ln/>
        </p:spPr>
        <p:txBody>
          <a:bodyPr wrap="square" lIns="0" tIns="0" rIns="0" bIns="0" rtlCol="0" anchor="ctr"/>
          <a:lstStyle/>
          <a:p>
            <a:pPr algn="ctr" indent="0" marL="0">
              <a:buNone/>
            </a:pPr>
            <a:r>
              <a:rPr lang="en-US" sz="900" dirty="0">
                <a:solidFill>
                  <a:srgbClr val="2E5F84"/>
                </a:solidFill>
                <a:latin typeface="Consolas" pitchFamily="34" charset="0"/>
                <a:ea typeface="Consolas" pitchFamily="34" charset="-122"/>
                <a:cs typeface="Consolas" pitchFamily="34" charset="-120"/>
              </a:rPr>
              <a:t>IMU = the spine</a:t>
            </a:r>
            <a:endParaRPr lang="en-US" sz="900" dirty="0"/>
          </a:p>
        </p:txBody>
      </p:sp>
      <p:sp>
        <p:nvSpPr>
          <p:cNvPr id="34" name="Shape 32"/>
          <p:cNvSpPr/>
          <p:nvPr/>
        </p:nvSpPr>
        <p:spPr>
          <a:xfrm flipV="1">
            <a:off x="1325880" y="5029200"/>
            <a:ext cx="2148840" cy="0"/>
          </a:xfrm>
          <a:prstGeom prst="line">
            <a:avLst/>
          </a:prstGeom>
          <a:noFill/>
          <a:ln w="19050">
            <a:solidFill>
              <a:srgbClr val="1B2A36"/>
            </a:solidFill>
            <a:prstDash val="solid"/>
            <a:tailEnd type="triangle"/>
          </a:ln>
        </p:spPr>
      </p:sp>
      <p:sp>
        <p:nvSpPr>
          <p:cNvPr id="35" name="Shape 33"/>
          <p:cNvSpPr/>
          <p:nvPr/>
        </p:nvSpPr>
        <p:spPr>
          <a:xfrm>
            <a:off x="1225296" y="4974336"/>
            <a:ext cx="109728" cy="109728"/>
          </a:xfrm>
          <a:prstGeom prst="ellipse">
            <a:avLst/>
          </a:prstGeom>
          <a:solidFill>
            <a:srgbClr val="C42A1C"/>
          </a:solidFill>
          <a:ln/>
        </p:spPr>
      </p:sp>
      <p:sp>
        <p:nvSpPr>
          <p:cNvPr id="36" name="Text 34"/>
          <p:cNvSpPr/>
          <p:nvPr/>
        </p:nvSpPr>
        <p:spPr>
          <a:xfrm>
            <a:off x="1463040" y="4572000"/>
            <a:ext cx="3108960" cy="457200"/>
          </a:xfrm>
          <a:prstGeom prst="rect">
            <a:avLst/>
          </a:prstGeom>
          <a:noFill/>
          <a:ln/>
        </p:spPr>
        <p:txBody>
          <a:bodyPr wrap="square" lIns="0" tIns="0" rIns="0" bIns="0" rtlCol="0" anchor="ctr"/>
          <a:lstStyle/>
          <a:p>
            <a:pPr indent="0" marL="0">
              <a:lnSpc>
                <a:spcPts val="1200"/>
              </a:lnSpc>
              <a:buNone/>
            </a:pPr>
            <a:r>
              <a:rPr lang="en-US" sz="950" dirty="0">
                <a:solidFill>
                  <a:srgbClr val="1B2A36"/>
                </a:solidFill>
                <a:latin typeface="Segoe UI" pitchFamily="34" charset="0"/>
                <a:ea typeface="Segoe UI" pitchFamily="34" charset="-122"/>
                <a:cs typeface="Segoe UI" pitchFamily="34" charset="-120"/>
              </a:rPr>
              <a:t>vision = the aid that BOUNDS INS drift; integrity clamps it (red)</a:t>
            </a:r>
            <a:endParaRPr lang="en-US" sz="950" dirty="0"/>
          </a:p>
        </p:txBody>
      </p:sp>
      <p:sp>
        <p:nvSpPr>
          <p:cNvPr id="37" name="Text 35"/>
          <p:cNvSpPr/>
          <p:nvPr/>
        </p:nvSpPr>
        <p:spPr>
          <a:xfrm>
            <a:off x="5120640" y="4206240"/>
            <a:ext cx="649224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OUR WEDGE</a:t>
            </a:r>
            <a:endParaRPr lang="en-US" sz="950" dirty="0"/>
          </a:p>
        </p:txBody>
      </p:sp>
      <p:sp>
        <p:nvSpPr>
          <p:cNvPr id="38" name="Text 36"/>
          <p:cNvSpPr/>
          <p:nvPr/>
        </p:nvSpPr>
        <p:spPr>
          <a:xfrm>
            <a:off x="5120640" y="4443984"/>
            <a:ext cx="6492240" cy="186537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GNSS has RAIM — a live self-check that bounds its own error. Vision aiding has none. We build it: A.E.T.H.E.R is an open-source, student-scale instantiation of Honeywell's HANA philosophy — the IMU is the spine, vision is the aid that bounds inertial drift, and a live integrity layer says, in real time, how wrong we could be and when we can no longer be trusted. That is the layer aerospace ships and student VIO projects skip.</a:t>
            </a:r>
            <a:endParaRPr lang="en-US" sz="1000" dirty="0"/>
          </a:p>
        </p:txBody>
      </p:sp>
      <p:sp>
        <p:nvSpPr>
          <p:cNvPr id="39" name="Shape 37"/>
          <p:cNvSpPr/>
          <p:nvPr/>
        </p:nvSpPr>
        <p:spPr>
          <a:xfrm>
            <a:off x="502920" y="6400800"/>
            <a:ext cx="11183112" cy="0"/>
          </a:xfrm>
          <a:prstGeom prst="line">
            <a:avLst/>
          </a:prstGeom>
          <a:noFill/>
          <a:ln w="9525">
            <a:solidFill>
              <a:srgbClr val="D7DDE2"/>
            </a:solidFill>
            <a:prstDash val="solid"/>
          </a:ln>
        </p:spPr>
      </p:sp>
      <p:sp>
        <p:nvSpPr>
          <p:cNvPr id="40" name="Text 38"/>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3/10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707624" y="493776"/>
            <a:ext cx="621792" cy="438912"/>
          </a:xfrm>
          <a:prstGeom prst="ellipse">
            <a:avLst/>
          </a:prstGeom>
          <a:solidFill>
            <a:srgbClr val="2E5F84">
              <a:alpha val="0"/>
            </a:srgbClr>
          </a:solidFill>
          <a:ln w="15875">
            <a:solidFill>
              <a:srgbClr val="2E5F84"/>
            </a:solidFill>
            <a:prstDash val="solid"/>
          </a:ln>
        </p:spPr>
      </p:sp>
      <p:sp>
        <p:nvSpPr>
          <p:cNvPr id="12" name="Shape 10"/>
          <p:cNvSpPr/>
          <p:nvPr/>
        </p:nvSpPr>
        <p:spPr>
          <a:xfrm>
            <a:off x="10981944" y="676656"/>
            <a:ext cx="73152" cy="73152"/>
          </a:xfrm>
          <a:prstGeom prst="ellipse">
            <a:avLst/>
          </a:prstGeom>
          <a:solidFill>
            <a:srgbClr val="2F7D4F"/>
          </a:solidFill>
          <a:ln/>
        </p:spPr>
      </p:sp>
      <p:sp>
        <p:nvSpPr>
          <p:cNvPr id="13" name="Text 11"/>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4" name="Text 12"/>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2 · PLANNING &amp; APPROACH · SHEET 04/10</a:t>
            </a:r>
            <a:endParaRPr lang="en-US" sz="900" dirty="0"/>
          </a:p>
        </p:txBody>
      </p:sp>
      <p:sp>
        <p:nvSpPr>
          <p:cNvPr id="15" name="Text 13"/>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Five independent ROS2 nodes — graceful by construction</a:t>
            </a:r>
            <a:endParaRPr lang="en-US" sz="2400" dirty="0"/>
          </a:p>
        </p:txBody>
      </p:sp>
      <p:sp>
        <p:nvSpPr>
          <p:cNvPr id="16" name="Shape 14"/>
          <p:cNvSpPr/>
          <p:nvPr/>
        </p:nvSpPr>
        <p:spPr>
          <a:xfrm>
            <a:off x="457200" y="1874520"/>
            <a:ext cx="1828800" cy="1097280"/>
          </a:xfrm>
          <a:prstGeom prst="roundRect">
            <a:avLst>
              <a:gd name="adj" fmla="val 5000"/>
            </a:avLst>
          </a:prstGeom>
          <a:solidFill>
            <a:srgbClr val="FFFFFF"/>
          </a:solidFill>
          <a:ln w="12700">
            <a:solidFill>
              <a:srgbClr val="2E5F84"/>
            </a:solidFill>
            <a:prstDash val="solid"/>
          </a:ln>
        </p:spPr>
      </p:sp>
      <p:sp>
        <p:nvSpPr>
          <p:cNvPr id="17" name="Text 15"/>
          <p:cNvSpPr/>
          <p:nvPr/>
        </p:nvSpPr>
        <p:spPr>
          <a:xfrm>
            <a:off x="548640" y="2112264"/>
            <a:ext cx="1645920" cy="310896"/>
          </a:xfrm>
          <a:prstGeom prst="rect">
            <a:avLst/>
          </a:prstGeom>
          <a:noFill/>
          <a:ln/>
        </p:spPr>
        <p:txBody>
          <a:bodyPr wrap="square" lIns="0" tIns="0" rIns="0" bIns="0" rtlCol="0" anchor="ctr"/>
          <a:lstStyle/>
          <a:p>
            <a:pPr algn="ctr" indent="0" marL="0">
              <a:buNone/>
            </a:pPr>
            <a:r>
              <a:rPr lang="en-US" sz="1150" b="1" dirty="0">
                <a:solidFill>
                  <a:srgbClr val="1B2A36"/>
                </a:solidFill>
                <a:latin typeface="Consolas" pitchFamily="34" charset="0"/>
                <a:ea typeface="Consolas" pitchFamily="34" charset="-122"/>
                <a:cs typeface="Consolas" pitchFamily="34" charset="-120"/>
              </a:rPr>
              <a:t>sensor_bridge</a:t>
            </a:r>
            <a:endParaRPr lang="en-US" sz="1150" dirty="0"/>
          </a:p>
        </p:txBody>
      </p:sp>
      <p:sp>
        <p:nvSpPr>
          <p:cNvPr id="18" name="Text 16"/>
          <p:cNvSpPr/>
          <p:nvPr/>
        </p:nvSpPr>
        <p:spPr>
          <a:xfrm>
            <a:off x="548640" y="2478024"/>
            <a:ext cx="1645920" cy="365760"/>
          </a:xfrm>
          <a:prstGeom prst="rect">
            <a:avLst/>
          </a:prstGeom>
          <a:noFill/>
          <a:ln/>
        </p:spPr>
        <p:txBody>
          <a:bodyPr wrap="square" lIns="0" tIns="0" rIns="0" bIns="0" rtlCol="0" anchor="ctr"/>
          <a:lstStyle/>
          <a:p>
            <a:pPr algn="ctr" indent="0" marL="0">
              <a:lnSpc>
                <a:spcPts val="1100"/>
              </a:lnSpc>
              <a:buNone/>
            </a:pPr>
            <a:r>
              <a:rPr lang="en-US" sz="900" dirty="0">
                <a:solidFill>
                  <a:srgbClr val="7E8A93"/>
                </a:solidFill>
                <a:latin typeface="Segoe UI" pitchFamily="34" charset="0"/>
                <a:ea typeface="Segoe UI" pitchFamily="34" charset="-122"/>
                <a:cs typeface="Segoe UI" pitchFamily="34" charset="-120"/>
              </a:rPr>
              <a:t>stereo · IMU · GT</a:t>
            </a:r>
            <a:endParaRPr lang="en-US" sz="900" dirty="0"/>
          </a:p>
        </p:txBody>
      </p:sp>
      <p:sp>
        <p:nvSpPr>
          <p:cNvPr id="19" name="Shape 17"/>
          <p:cNvSpPr/>
          <p:nvPr/>
        </p:nvSpPr>
        <p:spPr>
          <a:xfrm>
            <a:off x="2286000" y="2423160"/>
            <a:ext cx="365760" cy="0"/>
          </a:xfrm>
          <a:prstGeom prst="line">
            <a:avLst/>
          </a:prstGeom>
          <a:noFill/>
          <a:ln w="19050">
            <a:solidFill>
              <a:srgbClr val="2E5F84"/>
            </a:solidFill>
            <a:prstDash val="solid"/>
            <a:tailEnd type="triangle"/>
          </a:ln>
        </p:spPr>
      </p:sp>
      <p:sp>
        <p:nvSpPr>
          <p:cNvPr id="20" name="Text 18"/>
          <p:cNvSpPr/>
          <p:nvPr/>
        </p:nvSpPr>
        <p:spPr>
          <a:xfrm>
            <a:off x="2011680" y="2176272"/>
            <a:ext cx="2377440"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/ov_msckf/odomimu</a:t>
            </a:r>
            <a:endParaRPr lang="en-US" sz="650" dirty="0"/>
          </a:p>
        </p:txBody>
      </p:sp>
      <p:sp>
        <p:nvSpPr>
          <p:cNvPr id="21" name="Shape 19"/>
          <p:cNvSpPr/>
          <p:nvPr/>
        </p:nvSpPr>
        <p:spPr>
          <a:xfrm>
            <a:off x="2651760" y="1874520"/>
            <a:ext cx="1828800" cy="1097280"/>
          </a:xfrm>
          <a:prstGeom prst="roundRect">
            <a:avLst>
              <a:gd name="adj" fmla="val 5000"/>
            </a:avLst>
          </a:prstGeom>
          <a:solidFill>
            <a:srgbClr val="FFFFFF"/>
          </a:solidFill>
          <a:ln w="12700">
            <a:solidFill>
              <a:srgbClr val="2E5F84"/>
            </a:solidFill>
            <a:prstDash val="solid"/>
          </a:ln>
        </p:spPr>
      </p:sp>
      <p:sp>
        <p:nvSpPr>
          <p:cNvPr id="22" name="Text 20"/>
          <p:cNvSpPr/>
          <p:nvPr/>
        </p:nvSpPr>
        <p:spPr>
          <a:xfrm>
            <a:off x="2743200" y="2112264"/>
            <a:ext cx="1645920" cy="310896"/>
          </a:xfrm>
          <a:prstGeom prst="rect">
            <a:avLst/>
          </a:prstGeom>
          <a:noFill/>
          <a:ln/>
        </p:spPr>
        <p:txBody>
          <a:bodyPr wrap="square" lIns="0" tIns="0" rIns="0" bIns="0" rtlCol="0" anchor="ctr"/>
          <a:lstStyle/>
          <a:p>
            <a:pPr algn="ctr" indent="0" marL="0">
              <a:buNone/>
            </a:pPr>
            <a:r>
              <a:rPr lang="en-US" sz="1150" b="1" dirty="0">
                <a:solidFill>
                  <a:srgbClr val="1B2A36"/>
                </a:solidFill>
                <a:latin typeface="Consolas" pitchFamily="34" charset="0"/>
                <a:ea typeface="Consolas" pitchFamily="34" charset="-122"/>
                <a:cs typeface="Consolas" pitchFamily="34" charset="-120"/>
              </a:rPr>
              <a:t>vio_core</a:t>
            </a:r>
            <a:endParaRPr lang="en-US" sz="1150" dirty="0"/>
          </a:p>
        </p:txBody>
      </p:sp>
      <p:sp>
        <p:nvSpPr>
          <p:cNvPr id="23" name="Text 21"/>
          <p:cNvSpPr/>
          <p:nvPr/>
        </p:nvSpPr>
        <p:spPr>
          <a:xfrm>
            <a:off x="2743200" y="2478024"/>
            <a:ext cx="1645920" cy="365760"/>
          </a:xfrm>
          <a:prstGeom prst="rect">
            <a:avLst/>
          </a:prstGeom>
          <a:noFill/>
          <a:ln/>
        </p:spPr>
        <p:txBody>
          <a:bodyPr wrap="square" lIns="0" tIns="0" rIns="0" bIns="0" rtlCol="0" anchor="ctr"/>
          <a:lstStyle/>
          <a:p>
            <a:pPr algn="ctr" indent="0" marL="0">
              <a:lnSpc>
                <a:spcPts val="1100"/>
              </a:lnSpc>
              <a:buNone/>
            </a:pPr>
            <a:r>
              <a:rPr lang="en-US" sz="900" dirty="0">
                <a:solidFill>
                  <a:srgbClr val="7E8A93"/>
                </a:solidFill>
                <a:latin typeface="Segoe UI" pitchFamily="34" charset="0"/>
                <a:ea typeface="Segoe UI" pitchFamily="34" charset="-122"/>
                <a:cs typeface="Segoe UI" pitchFamily="34" charset="-120"/>
              </a:rPr>
              <a:t>OpenVINS ov_msckf</a:t>
            </a:r>
            <a:endParaRPr lang="en-US" sz="900" dirty="0"/>
          </a:p>
        </p:txBody>
      </p:sp>
      <p:sp>
        <p:nvSpPr>
          <p:cNvPr id="24" name="Shape 22"/>
          <p:cNvSpPr/>
          <p:nvPr/>
        </p:nvSpPr>
        <p:spPr>
          <a:xfrm>
            <a:off x="4480560" y="2423160"/>
            <a:ext cx="365760" cy="0"/>
          </a:xfrm>
          <a:prstGeom prst="line">
            <a:avLst/>
          </a:prstGeom>
          <a:noFill/>
          <a:ln w="19050">
            <a:solidFill>
              <a:srgbClr val="2E5F84"/>
            </a:solidFill>
            <a:prstDash val="solid"/>
            <a:tailEnd type="triangle"/>
          </a:ln>
        </p:spPr>
      </p:sp>
      <p:sp>
        <p:nvSpPr>
          <p:cNvPr id="25" name="Text 23"/>
          <p:cNvSpPr/>
          <p:nvPr/>
        </p:nvSpPr>
        <p:spPr>
          <a:xfrm>
            <a:off x="4206240" y="2176272"/>
            <a:ext cx="2377440"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pose + covariance</a:t>
            </a:r>
            <a:endParaRPr lang="en-US" sz="650" dirty="0"/>
          </a:p>
        </p:txBody>
      </p:sp>
      <p:sp>
        <p:nvSpPr>
          <p:cNvPr id="26" name="Shape 24"/>
          <p:cNvSpPr/>
          <p:nvPr/>
        </p:nvSpPr>
        <p:spPr>
          <a:xfrm>
            <a:off x="4846320" y="1874520"/>
            <a:ext cx="1828800" cy="1097280"/>
          </a:xfrm>
          <a:prstGeom prst="roundRect">
            <a:avLst>
              <a:gd name="adj" fmla="val 5000"/>
            </a:avLst>
          </a:prstGeom>
          <a:solidFill>
            <a:srgbClr val="FFFFFF"/>
          </a:solidFill>
          <a:ln w="25400">
            <a:solidFill>
              <a:srgbClr val="C42A1C"/>
            </a:solidFill>
            <a:prstDash val="solid"/>
          </a:ln>
        </p:spPr>
      </p:sp>
      <p:sp>
        <p:nvSpPr>
          <p:cNvPr id="27" name="Text 25"/>
          <p:cNvSpPr/>
          <p:nvPr/>
        </p:nvSpPr>
        <p:spPr>
          <a:xfrm>
            <a:off x="4846320" y="1636776"/>
            <a:ext cx="1828800" cy="201168"/>
          </a:xfrm>
          <a:prstGeom prst="rect">
            <a:avLst/>
          </a:prstGeom>
          <a:noFill/>
          <a:ln/>
        </p:spPr>
        <p:txBody>
          <a:bodyPr wrap="square" lIns="0" tIns="0" rIns="0" bIns="0" rtlCol="0" anchor="ctr"/>
          <a:lstStyle/>
          <a:p>
            <a:pPr algn="ctr" indent="0" marL="0">
              <a:buNone/>
            </a:pPr>
            <a:r>
              <a:rPr lang="en-US" sz="800" b="1" dirty="0">
                <a:solidFill>
                  <a:srgbClr val="C42A1C"/>
                </a:solidFill>
                <a:latin typeface="Consolas" pitchFamily="34" charset="0"/>
                <a:ea typeface="Consolas" pitchFamily="34" charset="-122"/>
                <a:cs typeface="Consolas" pitchFamily="34" charset="-120"/>
              </a:rPr>
              <a:t>NOVEL · the wedge</a:t>
            </a:r>
            <a:endParaRPr lang="en-US" sz="800" dirty="0"/>
          </a:p>
        </p:txBody>
      </p:sp>
      <p:sp>
        <p:nvSpPr>
          <p:cNvPr id="28" name="Text 26"/>
          <p:cNvSpPr/>
          <p:nvPr/>
        </p:nvSpPr>
        <p:spPr>
          <a:xfrm>
            <a:off x="4937760" y="2112264"/>
            <a:ext cx="1645920" cy="310896"/>
          </a:xfrm>
          <a:prstGeom prst="rect">
            <a:avLst/>
          </a:prstGeom>
          <a:noFill/>
          <a:ln/>
        </p:spPr>
        <p:txBody>
          <a:bodyPr wrap="square" lIns="0" tIns="0" rIns="0" bIns="0" rtlCol="0" anchor="ctr"/>
          <a:lstStyle/>
          <a:p>
            <a:pPr algn="ctr" indent="0" marL="0">
              <a:buNone/>
            </a:pPr>
            <a:r>
              <a:rPr lang="en-US" sz="1150" b="1" dirty="0">
                <a:solidFill>
                  <a:srgbClr val="C42A1C"/>
                </a:solidFill>
                <a:latin typeface="Consolas" pitchFamily="34" charset="0"/>
                <a:ea typeface="Consolas" pitchFamily="34" charset="-122"/>
                <a:cs typeface="Consolas" pitchFamily="34" charset="-120"/>
              </a:rPr>
              <a:t>integrity_monitor</a:t>
            </a:r>
            <a:endParaRPr lang="en-US" sz="1150" dirty="0"/>
          </a:p>
        </p:txBody>
      </p:sp>
      <p:sp>
        <p:nvSpPr>
          <p:cNvPr id="29" name="Text 27"/>
          <p:cNvSpPr/>
          <p:nvPr/>
        </p:nvSpPr>
        <p:spPr>
          <a:xfrm>
            <a:off x="4937760" y="2478024"/>
            <a:ext cx="1645920" cy="365760"/>
          </a:xfrm>
          <a:prstGeom prst="rect">
            <a:avLst/>
          </a:prstGeom>
          <a:noFill/>
          <a:ln/>
        </p:spPr>
        <p:txBody>
          <a:bodyPr wrap="square" lIns="0" tIns="0" rIns="0" bIns="0" rtlCol="0" anchor="ctr"/>
          <a:lstStyle/>
          <a:p>
            <a:pPr algn="ctr" indent="0" marL="0">
              <a:lnSpc>
                <a:spcPts val="1100"/>
              </a:lnSpc>
              <a:buNone/>
            </a:pPr>
            <a:r>
              <a:rPr lang="en-US" sz="900" dirty="0">
                <a:solidFill>
                  <a:srgbClr val="7E8A93"/>
                </a:solidFill>
                <a:latin typeface="Segoe UI" pitchFamily="34" charset="0"/>
                <a:ea typeface="Segoe UI" pitchFamily="34" charset="-122"/>
                <a:cs typeface="Segoe UI" pitchFamily="34" charset="-120"/>
              </a:rPr>
              <a:t>D · NIS · NEES · IB</a:t>
            </a:r>
            <a:endParaRPr lang="en-US" sz="900" dirty="0"/>
          </a:p>
        </p:txBody>
      </p:sp>
      <p:sp>
        <p:nvSpPr>
          <p:cNvPr id="30" name="Shape 28"/>
          <p:cNvSpPr/>
          <p:nvPr/>
        </p:nvSpPr>
        <p:spPr>
          <a:xfrm>
            <a:off x="6675120" y="2423160"/>
            <a:ext cx="365760" cy="0"/>
          </a:xfrm>
          <a:prstGeom prst="line">
            <a:avLst/>
          </a:prstGeom>
          <a:noFill/>
          <a:ln w="19050">
            <a:solidFill>
              <a:srgbClr val="2E5F84"/>
            </a:solidFill>
            <a:prstDash val="solid"/>
            <a:tailEnd type="triangle"/>
          </a:ln>
        </p:spPr>
      </p:sp>
      <p:sp>
        <p:nvSpPr>
          <p:cNvPr id="31" name="Text 29"/>
          <p:cNvSpPr/>
          <p:nvPr/>
        </p:nvSpPr>
        <p:spPr>
          <a:xfrm>
            <a:off x="6400800" y="2176272"/>
            <a:ext cx="2377440"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/nav/integrity_bound</a:t>
            </a:r>
            <a:endParaRPr lang="en-US" sz="650" dirty="0"/>
          </a:p>
        </p:txBody>
      </p:sp>
      <p:sp>
        <p:nvSpPr>
          <p:cNvPr id="32" name="Shape 30"/>
          <p:cNvSpPr/>
          <p:nvPr/>
        </p:nvSpPr>
        <p:spPr>
          <a:xfrm>
            <a:off x="7040880" y="1874520"/>
            <a:ext cx="1828800" cy="1097280"/>
          </a:xfrm>
          <a:prstGeom prst="roundRect">
            <a:avLst>
              <a:gd name="adj" fmla="val 5000"/>
            </a:avLst>
          </a:prstGeom>
          <a:solidFill>
            <a:srgbClr val="FFFFFF"/>
          </a:solidFill>
          <a:ln w="12700">
            <a:solidFill>
              <a:srgbClr val="2E5F84"/>
            </a:solidFill>
            <a:prstDash val="solid"/>
          </a:ln>
        </p:spPr>
      </p:sp>
      <p:sp>
        <p:nvSpPr>
          <p:cNvPr id="33" name="Text 31"/>
          <p:cNvSpPr/>
          <p:nvPr/>
        </p:nvSpPr>
        <p:spPr>
          <a:xfrm>
            <a:off x="7132320" y="2112264"/>
            <a:ext cx="1645920" cy="310896"/>
          </a:xfrm>
          <a:prstGeom prst="rect">
            <a:avLst/>
          </a:prstGeom>
          <a:noFill/>
          <a:ln/>
        </p:spPr>
        <p:txBody>
          <a:bodyPr wrap="square" lIns="0" tIns="0" rIns="0" bIns="0" rtlCol="0" anchor="ctr"/>
          <a:lstStyle/>
          <a:p>
            <a:pPr algn="ctr" indent="0" marL="0">
              <a:buNone/>
            </a:pPr>
            <a:r>
              <a:rPr lang="en-US" sz="1150" b="1" dirty="0">
                <a:solidFill>
                  <a:srgbClr val="1B2A36"/>
                </a:solidFill>
                <a:latin typeface="Consolas" pitchFamily="34" charset="0"/>
                <a:ea typeface="Consolas" pitchFamily="34" charset="-122"/>
                <a:cs typeface="Consolas" pitchFamily="34" charset="-120"/>
              </a:rPr>
              <a:t>degradation_mgr</a:t>
            </a:r>
            <a:endParaRPr lang="en-US" sz="1150" dirty="0"/>
          </a:p>
        </p:txBody>
      </p:sp>
      <p:sp>
        <p:nvSpPr>
          <p:cNvPr id="34" name="Text 32"/>
          <p:cNvSpPr/>
          <p:nvPr/>
        </p:nvSpPr>
        <p:spPr>
          <a:xfrm>
            <a:off x="7132320" y="2478024"/>
            <a:ext cx="1645920" cy="365760"/>
          </a:xfrm>
          <a:prstGeom prst="rect">
            <a:avLst/>
          </a:prstGeom>
          <a:noFill/>
          <a:ln/>
        </p:spPr>
        <p:txBody>
          <a:bodyPr wrap="square" lIns="0" tIns="0" rIns="0" bIns="0" rtlCol="0" anchor="ctr"/>
          <a:lstStyle/>
          <a:p>
            <a:pPr algn="ctr" indent="0" marL="0">
              <a:lnSpc>
                <a:spcPts val="1100"/>
              </a:lnSpc>
              <a:buNone/>
            </a:pPr>
            <a:r>
              <a:rPr lang="en-US" sz="900" dirty="0">
                <a:solidFill>
                  <a:srgbClr val="7E8A93"/>
                </a:solidFill>
                <a:latin typeface="Segoe UI" pitchFamily="34" charset="0"/>
                <a:ea typeface="Segoe UI" pitchFamily="34" charset="-122"/>
                <a:cs typeface="Segoe UI" pitchFamily="34" charset="-120"/>
              </a:rPr>
              <a:t>R(D) state machine</a:t>
            </a:r>
            <a:endParaRPr lang="en-US" sz="900" dirty="0"/>
          </a:p>
        </p:txBody>
      </p:sp>
      <p:sp>
        <p:nvSpPr>
          <p:cNvPr id="35" name="Shape 33"/>
          <p:cNvSpPr/>
          <p:nvPr/>
        </p:nvSpPr>
        <p:spPr>
          <a:xfrm>
            <a:off x="8869680" y="2423160"/>
            <a:ext cx="365760" cy="0"/>
          </a:xfrm>
          <a:prstGeom prst="line">
            <a:avLst/>
          </a:prstGeom>
          <a:noFill/>
          <a:ln w="19050">
            <a:solidFill>
              <a:srgbClr val="2E5F84"/>
            </a:solidFill>
            <a:prstDash val="solid"/>
            <a:tailEnd type="triangle"/>
          </a:ln>
        </p:spPr>
      </p:sp>
      <p:sp>
        <p:nvSpPr>
          <p:cNvPr id="36" name="Text 34"/>
          <p:cNvSpPr/>
          <p:nvPr/>
        </p:nvSpPr>
        <p:spPr>
          <a:xfrm>
            <a:off x="8595360" y="2176272"/>
            <a:ext cx="2377440"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/nav/trust · /nav/state</a:t>
            </a:r>
            <a:endParaRPr lang="en-US" sz="650" dirty="0"/>
          </a:p>
        </p:txBody>
      </p:sp>
      <p:sp>
        <p:nvSpPr>
          <p:cNvPr id="37" name="Shape 35"/>
          <p:cNvSpPr/>
          <p:nvPr/>
        </p:nvSpPr>
        <p:spPr>
          <a:xfrm>
            <a:off x="9235440" y="1874520"/>
            <a:ext cx="1828800" cy="1097280"/>
          </a:xfrm>
          <a:prstGeom prst="roundRect">
            <a:avLst>
              <a:gd name="adj" fmla="val 5000"/>
            </a:avLst>
          </a:prstGeom>
          <a:solidFill>
            <a:srgbClr val="FFFFFF"/>
          </a:solidFill>
          <a:ln w="12700">
            <a:solidFill>
              <a:srgbClr val="2E5F84"/>
            </a:solidFill>
            <a:prstDash val="solid"/>
          </a:ln>
        </p:spPr>
      </p:sp>
      <p:sp>
        <p:nvSpPr>
          <p:cNvPr id="38" name="Text 36"/>
          <p:cNvSpPr/>
          <p:nvPr/>
        </p:nvSpPr>
        <p:spPr>
          <a:xfrm>
            <a:off x="9326880" y="2112264"/>
            <a:ext cx="1645920" cy="310896"/>
          </a:xfrm>
          <a:prstGeom prst="rect">
            <a:avLst/>
          </a:prstGeom>
          <a:noFill/>
          <a:ln/>
        </p:spPr>
        <p:txBody>
          <a:bodyPr wrap="square" lIns="0" tIns="0" rIns="0" bIns="0" rtlCol="0" anchor="ctr"/>
          <a:lstStyle/>
          <a:p>
            <a:pPr algn="ctr" indent="0" marL="0">
              <a:buNone/>
            </a:pPr>
            <a:r>
              <a:rPr lang="en-US" sz="1150" b="1" dirty="0">
                <a:solidFill>
                  <a:srgbClr val="1B2A36"/>
                </a:solidFill>
                <a:latin typeface="Consolas" pitchFamily="34" charset="0"/>
                <a:ea typeface="Consolas" pitchFamily="34" charset="-122"/>
                <a:cs typeface="Consolas" pitchFamily="34" charset="-120"/>
              </a:rPr>
              <a:t>health_cockpit</a:t>
            </a:r>
            <a:endParaRPr lang="en-US" sz="1150" dirty="0"/>
          </a:p>
        </p:txBody>
      </p:sp>
      <p:sp>
        <p:nvSpPr>
          <p:cNvPr id="39" name="Text 37"/>
          <p:cNvSpPr/>
          <p:nvPr/>
        </p:nvSpPr>
        <p:spPr>
          <a:xfrm>
            <a:off x="9326880" y="2478024"/>
            <a:ext cx="1645920" cy="365760"/>
          </a:xfrm>
          <a:prstGeom prst="rect">
            <a:avLst/>
          </a:prstGeom>
          <a:noFill/>
          <a:ln/>
        </p:spPr>
        <p:txBody>
          <a:bodyPr wrap="square" lIns="0" tIns="0" rIns="0" bIns="0" rtlCol="0" anchor="ctr"/>
          <a:lstStyle/>
          <a:p>
            <a:pPr algn="ctr" indent="0" marL="0">
              <a:lnSpc>
                <a:spcPts val="1100"/>
              </a:lnSpc>
              <a:buNone/>
            </a:pPr>
            <a:r>
              <a:rPr lang="en-US" sz="900" dirty="0">
                <a:solidFill>
                  <a:srgbClr val="7E8A93"/>
                </a:solidFill>
                <a:latin typeface="Segoe UI" pitchFamily="34" charset="0"/>
                <a:ea typeface="Segoe UI" pitchFamily="34" charset="-122"/>
                <a:cs typeface="Segoe UI" pitchFamily="34" charset="-120"/>
              </a:rPr>
              <a:t>trust HUD · ellipse</a:t>
            </a:r>
            <a:endParaRPr lang="en-US" sz="900" dirty="0"/>
          </a:p>
        </p:txBody>
      </p:sp>
      <p:sp>
        <p:nvSpPr>
          <p:cNvPr id="40" name="Text 38"/>
          <p:cNvSpPr/>
          <p:nvPr/>
        </p:nvSpPr>
        <p:spPr>
          <a:xfrm>
            <a:off x="548640" y="3383280"/>
            <a:ext cx="11064240" cy="411480"/>
          </a:xfrm>
          <a:prstGeom prst="rect">
            <a:avLst/>
          </a:prstGeom>
          <a:noFill/>
          <a:ln/>
        </p:spPr>
        <p:txBody>
          <a:bodyPr wrap="square" lIns="0" tIns="0" rIns="0" bIns="0" rtlCol="0" anchor="ctr"/>
          <a:lstStyle/>
          <a:p>
            <a:pPr indent="0" marL="0">
              <a:lnSpc>
                <a:spcPts val="1350"/>
              </a:lnSpc>
              <a:buNone/>
            </a:pPr>
            <a:r>
              <a:rPr lang="en-US" sz="1050" dirty="0">
                <a:solidFill>
                  <a:srgbClr val="1B2A36"/>
                </a:solidFill>
                <a:latin typeface="Segoe UI" pitchFamily="34" charset="0"/>
                <a:ea typeface="Segoe UI" pitchFamily="34" charset="-122"/>
                <a:cs typeface="Segoe UI" pitchFamily="34" charset="-120"/>
              </a:rPr>
              <a:t>Each box is a standalone ROS2 node — ANY SUBSET RUNS, so a failed module never cascades. Graceful degradation is proven by the graph itself, not promised in prose.</a:t>
            </a:r>
            <a:endParaRPr lang="en-US" sz="1050" dirty="0"/>
          </a:p>
        </p:txBody>
      </p:sp>
      <p:sp>
        <p:nvSpPr>
          <p:cNvPr id="41" name="Shape 39"/>
          <p:cNvSpPr/>
          <p:nvPr/>
        </p:nvSpPr>
        <p:spPr>
          <a:xfrm>
            <a:off x="502920" y="4069080"/>
            <a:ext cx="3474720" cy="2011680"/>
          </a:xfrm>
          <a:prstGeom prst="rect">
            <a:avLst/>
          </a:prstGeom>
          <a:solidFill>
            <a:srgbClr val="FFFFFF"/>
          </a:solidFill>
          <a:ln w="12700">
            <a:solidFill>
              <a:srgbClr val="D7DDE2"/>
            </a:solidFill>
            <a:prstDash val="solid"/>
          </a:ln>
        </p:spPr>
      </p:sp>
      <p:sp>
        <p:nvSpPr>
          <p:cNvPr id="42" name="Shape 40"/>
          <p:cNvSpPr/>
          <p:nvPr/>
        </p:nvSpPr>
        <p:spPr>
          <a:xfrm>
            <a:off x="502920" y="4069080"/>
            <a:ext cx="50292" cy="2011680"/>
          </a:xfrm>
          <a:prstGeom prst="rect">
            <a:avLst/>
          </a:prstGeom>
          <a:solidFill>
            <a:srgbClr val="2E5F84"/>
          </a:solidFill>
          <a:ln/>
        </p:spPr>
      </p:sp>
      <p:sp>
        <p:nvSpPr>
          <p:cNvPr id="43" name="Text 41"/>
          <p:cNvSpPr/>
          <p:nvPr/>
        </p:nvSpPr>
        <p:spPr>
          <a:xfrm>
            <a:off x="740664" y="4206240"/>
            <a:ext cx="3108960" cy="274320"/>
          </a:xfrm>
          <a:prstGeom prst="rect">
            <a:avLst/>
          </a:prstGeom>
          <a:noFill/>
          <a:ln/>
        </p:spPr>
        <p:txBody>
          <a:bodyPr wrap="square" lIns="0" tIns="0" rIns="0" bIns="0" rtlCol="0" anchor="ctr"/>
          <a:lstStyle/>
          <a:p>
            <a:pPr indent="0" marL="0">
              <a:buNone/>
            </a:pPr>
            <a:r>
              <a:rPr lang="en-US" sz="1100" b="1" spc="100" kern="0" dirty="0">
                <a:solidFill>
                  <a:srgbClr val="2E5F84"/>
                </a:solidFill>
                <a:latin typeface="Consolas" pitchFamily="34" charset="0"/>
                <a:ea typeface="Consolas" pitchFamily="34" charset="-122"/>
                <a:cs typeface="Consolas" pitchFamily="34" charset="-120"/>
              </a:rPr>
              <a:t>DISCOVER</a:t>
            </a:r>
            <a:endParaRPr lang="en-US" sz="1100" dirty="0"/>
          </a:p>
        </p:txBody>
      </p:sp>
      <p:sp>
        <p:nvSpPr>
          <p:cNvPr id="44" name="Text 42"/>
          <p:cNvSpPr/>
          <p:nvPr/>
        </p:nvSpPr>
        <p:spPr>
          <a:xfrm>
            <a:off x="740664" y="4526280"/>
            <a:ext cx="3108960" cy="1463040"/>
          </a:xfrm>
          <a:prstGeom prst="rect">
            <a:avLst/>
          </a:prstGeom>
          <a:noFill/>
          <a:ln/>
        </p:spPr>
        <p:txBody>
          <a:bodyPr wrap="square" lIns="0" tIns="0" rIns="0" bIns="0" rtlCol="0" anchor="ctr"/>
          <a:lstStyle/>
          <a:p>
            <a:pPr indent="0" marL="0">
              <a:lnSpc>
                <a:spcPts val="1300"/>
              </a:lnSpc>
              <a:buNone/>
            </a:pPr>
            <a:r>
              <a:rPr lang="en-US" sz="980" dirty="0">
                <a:solidFill>
                  <a:srgbClr val="1B2A36"/>
                </a:solidFill>
                <a:latin typeface="Segoe UI" pitchFamily="34" charset="0"/>
                <a:ea typeface="Segoe UI" pitchFamily="34" charset="-122"/>
                <a:cs typeface="Segoe UI" pitchFamily="34" charset="-120"/>
              </a:rPr>
              <a:t>Read DP7 as bounded-error estimation + integrity; pick OpenVINS (MSCKF exposes the covariance the integrity layer needs).</a:t>
            </a:r>
            <a:endParaRPr lang="en-US" sz="980" dirty="0"/>
          </a:p>
        </p:txBody>
      </p:sp>
      <p:sp>
        <p:nvSpPr>
          <p:cNvPr id="45" name="Shape 43"/>
          <p:cNvSpPr/>
          <p:nvPr/>
        </p:nvSpPr>
        <p:spPr>
          <a:xfrm>
            <a:off x="4224528" y="4069080"/>
            <a:ext cx="3474720" cy="2011680"/>
          </a:xfrm>
          <a:prstGeom prst="rect">
            <a:avLst/>
          </a:prstGeom>
          <a:solidFill>
            <a:srgbClr val="FFFFFF"/>
          </a:solidFill>
          <a:ln w="12700">
            <a:solidFill>
              <a:srgbClr val="D7DDE2"/>
            </a:solidFill>
            <a:prstDash val="solid"/>
          </a:ln>
        </p:spPr>
      </p:sp>
      <p:sp>
        <p:nvSpPr>
          <p:cNvPr id="46" name="Shape 44"/>
          <p:cNvSpPr/>
          <p:nvPr/>
        </p:nvSpPr>
        <p:spPr>
          <a:xfrm>
            <a:off x="4224528" y="4069080"/>
            <a:ext cx="50292" cy="2011680"/>
          </a:xfrm>
          <a:prstGeom prst="rect">
            <a:avLst/>
          </a:prstGeom>
          <a:solidFill>
            <a:srgbClr val="2E5F84"/>
          </a:solidFill>
          <a:ln/>
        </p:spPr>
      </p:sp>
      <p:sp>
        <p:nvSpPr>
          <p:cNvPr id="47" name="Text 45"/>
          <p:cNvSpPr/>
          <p:nvPr/>
        </p:nvSpPr>
        <p:spPr>
          <a:xfrm>
            <a:off x="4462272" y="4206240"/>
            <a:ext cx="3108960" cy="274320"/>
          </a:xfrm>
          <a:prstGeom prst="rect">
            <a:avLst/>
          </a:prstGeom>
          <a:noFill/>
          <a:ln/>
        </p:spPr>
        <p:txBody>
          <a:bodyPr wrap="square" lIns="0" tIns="0" rIns="0" bIns="0" rtlCol="0" anchor="ctr"/>
          <a:lstStyle/>
          <a:p>
            <a:pPr indent="0" marL="0">
              <a:buNone/>
            </a:pPr>
            <a:r>
              <a:rPr lang="en-US" sz="1100" b="1" spc="100" kern="0" dirty="0">
                <a:solidFill>
                  <a:srgbClr val="2E5F84"/>
                </a:solidFill>
                <a:latin typeface="Consolas" pitchFamily="34" charset="0"/>
                <a:ea typeface="Consolas" pitchFamily="34" charset="-122"/>
                <a:cs typeface="Consolas" pitchFamily="34" charset="-120"/>
              </a:rPr>
              <a:t>DE-RISK</a:t>
            </a:r>
            <a:endParaRPr lang="en-US" sz="1100" dirty="0"/>
          </a:p>
        </p:txBody>
      </p:sp>
      <p:sp>
        <p:nvSpPr>
          <p:cNvPr id="48" name="Text 46"/>
          <p:cNvSpPr/>
          <p:nvPr/>
        </p:nvSpPr>
        <p:spPr>
          <a:xfrm>
            <a:off x="4462272" y="4526280"/>
            <a:ext cx="3108960" cy="1463040"/>
          </a:xfrm>
          <a:prstGeom prst="rect">
            <a:avLst/>
          </a:prstGeom>
          <a:noFill/>
          <a:ln/>
        </p:spPr>
        <p:txBody>
          <a:bodyPr wrap="square" lIns="0" tIns="0" rIns="0" bIns="0" rtlCol="0" anchor="ctr"/>
          <a:lstStyle/>
          <a:p>
            <a:pPr indent="0" marL="0">
              <a:lnSpc>
                <a:spcPts val="1300"/>
              </a:lnSpc>
              <a:buNone/>
            </a:pPr>
            <a:r>
              <a:rPr lang="en-US" sz="980" dirty="0">
                <a:solidFill>
                  <a:srgbClr val="1B2A36"/>
                </a:solidFill>
                <a:latin typeface="Segoe UI" pitchFamily="34" charset="0"/>
                <a:ea typeface="Segoe UI" pitchFamily="34" charset="-122"/>
                <a:cs typeface="Segoe UI" pitchFamily="34" charset="-120"/>
              </a:rPr>
              <a:t>EuRoC real data as the guaranteed anchor; the integrity layer in Python on what OpenVINS already publishes — no C++ fork on the critical path.</a:t>
            </a:r>
            <a:endParaRPr lang="en-US" sz="980" dirty="0"/>
          </a:p>
        </p:txBody>
      </p:sp>
      <p:sp>
        <p:nvSpPr>
          <p:cNvPr id="49" name="Shape 47"/>
          <p:cNvSpPr/>
          <p:nvPr/>
        </p:nvSpPr>
        <p:spPr>
          <a:xfrm>
            <a:off x="7946136" y="4069080"/>
            <a:ext cx="3474720" cy="2011680"/>
          </a:xfrm>
          <a:prstGeom prst="rect">
            <a:avLst/>
          </a:prstGeom>
          <a:solidFill>
            <a:srgbClr val="FFFFFF"/>
          </a:solidFill>
          <a:ln w="12700">
            <a:solidFill>
              <a:srgbClr val="D7DDE2"/>
            </a:solidFill>
            <a:prstDash val="solid"/>
          </a:ln>
        </p:spPr>
      </p:sp>
      <p:sp>
        <p:nvSpPr>
          <p:cNvPr id="50" name="Shape 48"/>
          <p:cNvSpPr/>
          <p:nvPr/>
        </p:nvSpPr>
        <p:spPr>
          <a:xfrm>
            <a:off x="7946136" y="4069080"/>
            <a:ext cx="50292" cy="2011680"/>
          </a:xfrm>
          <a:prstGeom prst="rect">
            <a:avLst/>
          </a:prstGeom>
          <a:solidFill>
            <a:srgbClr val="2E5F84"/>
          </a:solidFill>
          <a:ln/>
        </p:spPr>
      </p:sp>
      <p:sp>
        <p:nvSpPr>
          <p:cNvPr id="51" name="Text 49"/>
          <p:cNvSpPr/>
          <p:nvPr/>
        </p:nvSpPr>
        <p:spPr>
          <a:xfrm>
            <a:off x="8183880" y="4206240"/>
            <a:ext cx="3108960" cy="274320"/>
          </a:xfrm>
          <a:prstGeom prst="rect">
            <a:avLst/>
          </a:prstGeom>
          <a:noFill/>
          <a:ln/>
        </p:spPr>
        <p:txBody>
          <a:bodyPr wrap="square" lIns="0" tIns="0" rIns="0" bIns="0" rtlCol="0" anchor="ctr"/>
          <a:lstStyle/>
          <a:p>
            <a:pPr indent="0" marL="0">
              <a:buNone/>
            </a:pPr>
            <a:r>
              <a:rPr lang="en-US" sz="1100" b="1" spc="100" kern="0" dirty="0">
                <a:solidFill>
                  <a:srgbClr val="2E5F84"/>
                </a:solidFill>
                <a:latin typeface="Consolas" pitchFamily="34" charset="0"/>
                <a:ea typeface="Consolas" pitchFamily="34" charset="-122"/>
                <a:cs typeface="Consolas" pitchFamily="34" charset="-120"/>
              </a:rPr>
              <a:t>DELIVER</a:t>
            </a:r>
            <a:endParaRPr lang="en-US" sz="1100" dirty="0"/>
          </a:p>
        </p:txBody>
      </p:sp>
      <p:sp>
        <p:nvSpPr>
          <p:cNvPr id="52" name="Text 50"/>
          <p:cNvSpPr/>
          <p:nvPr/>
        </p:nvSpPr>
        <p:spPr>
          <a:xfrm>
            <a:off x="8183880" y="4526280"/>
            <a:ext cx="3108960" cy="1463040"/>
          </a:xfrm>
          <a:prstGeom prst="rect">
            <a:avLst/>
          </a:prstGeom>
          <a:noFill/>
          <a:ln/>
        </p:spPr>
        <p:txBody>
          <a:bodyPr wrap="square" lIns="0" tIns="0" rIns="0" bIns="0" rtlCol="0" anchor="ctr"/>
          <a:lstStyle/>
          <a:p>
            <a:pPr indent="0" marL="0">
              <a:lnSpc>
                <a:spcPts val="1300"/>
              </a:lnSpc>
              <a:buNone/>
            </a:pPr>
            <a:r>
              <a:rPr lang="en-US" sz="980" dirty="0">
                <a:solidFill>
                  <a:srgbClr val="1B2A36"/>
                </a:solidFill>
                <a:latin typeface="Segoe UI" pitchFamily="34" charset="0"/>
                <a:ea typeface="Segoe UI" pitchFamily="34" charset="-122"/>
                <a:cs typeface="Segoe UI" pitchFamily="34" charset="-120"/>
              </a:rPr>
              <a:t>A locked floor (all 4 DP7 deliverables) by Day 2; the live demo + stretch fenced above it so the worst case is ‘less impressive’, never ‘nothing’.</a:t>
            </a:r>
            <a:endParaRPr lang="en-US" sz="980" dirty="0"/>
          </a:p>
        </p:txBody>
      </p:sp>
      <p:sp>
        <p:nvSpPr>
          <p:cNvPr id="53" name="Shape 51"/>
          <p:cNvSpPr/>
          <p:nvPr/>
        </p:nvSpPr>
        <p:spPr>
          <a:xfrm>
            <a:off x="502920" y="6400800"/>
            <a:ext cx="11183112" cy="0"/>
          </a:xfrm>
          <a:prstGeom prst="line">
            <a:avLst/>
          </a:prstGeom>
          <a:noFill/>
          <a:ln w="9525">
            <a:solidFill>
              <a:srgbClr val="D7DDE2"/>
            </a:solidFill>
            <a:prstDash val="solid"/>
          </a:ln>
        </p:spPr>
      </p:sp>
      <p:sp>
        <p:nvSpPr>
          <p:cNvPr id="54" name="Text 52"/>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4/10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707624" y="493776"/>
            <a:ext cx="621792" cy="438912"/>
          </a:xfrm>
          <a:prstGeom prst="ellipse">
            <a:avLst/>
          </a:prstGeom>
          <a:solidFill>
            <a:srgbClr val="2E5F84">
              <a:alpha val="0"/>
            </a:srgbClr>
          </a:solidFill>
          <a:ln w="15875">
            <a:solidFill>
              <a:srgbClr val="2E5F84"/>
            </a:solidFill>
            <a:prstDash val="solid"/>
          </a:ln>
        </p:spPr>
      </p:sp>
      <p:sp>
        <p:nvSpPr>
          <p:cNvPr id="12" name="Shape 10"/>
          <p:cNvSpPr/>
          <p:nvPr/>
        </p:nvSpPr>
        <p:spPr>
          <a:xfrm>
            <a:off x="10981944" y="676656"/>
            <a:ext cx="73152" cy="73152"/>
          </a:xfrm>
          <a:prstGeom prst="ellipse">
            <a:avLst/>
          </a:prstGeom>
          <a:solidFill>
            <a:srgbClr val="2F7D4F"/>
          </a:solidFill>
          <a:ln/>
        </p:spPr>
      </p:sp>
      <p:sp>
        <p:nvSpPr>
          <p:cNvPr id="13" name="Text 11"/>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4" name="Text 12"/>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2 · PLANNING &amp; APPROACH · SHEET 05/10</a:t>
            </a:r>
            <a:endParaRPr lang="en-US" sz="900" dirty="0"/>
          </a:p>
        </p:txBody>
      </p:sp>
      <p:sp>
        <p:nvSpPr>
          <p:cNvPr id="15" name="Text 13"/>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De-risked to a guaranteed floor — 2 people, 4 days</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55680" cy="914400"/>
        </p:xfrm>
        <a:graphic>
          <a:graphicData uri="http://schemas.openxmlformats.org/drawingml/2006/table">
            <a:tbl>
              <a:tblPr/>
              <a:tblGrid>
                <a:gridCol w="2286000"/>
                <a:gridCol w="6675120"/>
                <a:gridCol w="2194560"/>
              </a:tblGrid>
              <a:tr h="274320">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TIER</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1B2A36"/>
                    </a:solidFill>
                  </a:tcPr>
                </a:tc>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WHAT</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1B2A36"/>
                    </a:solidFill>
                  </a:tcPr>
                </a:tc>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CONFIDENCE</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1B2A36"/>
                    </a:solidFill>
                  </a:tcPr>
                </a:tc>
              </a:tr>
              <a:tr h="640080">
                <a:tc>
                  <a:txBody>
                    <a:bodyPr/>
                    <a:lstStyle/>
                    <a:p>
                      <a:pPr indent="0" marL="0">
                        <a:buNone/>
                      </a:pPr>
                      <a:r>
                        <a:rPr lang="en-US" sz="980" b="1" dirty="0">
                          <a:solidFill>
                            <a:srgbClr val="2F7D4F"/>
                          </a:solidFill>
                          <a:latin typeface="Segoe UI" pitchFamily="34" charset="0"/>
                          <a:ea typeface="Segoe UI" pitchFamily="34" charset="-122"/>
                          <a:cs typeface="Segoe UI" pitchFamily="34" charset="-120"/>
                        </a:rPr>
                        <a:t>GUARANTEED FLOOR</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80" dirty="0">
                          <a:solidFill>
                            <a:srgbClr val="1B2A36"/>
                          </a:solidFill>
                          <a:latin typeface="Segoe UI" pitchFamily="34" charset="0"/>
                          <a:ea typeface="Segoe UI" pitchFamily="34" charset="-122"/>
                          <a:cs typeface="Segoe UI" pitchFamily="34" charset="-120"/>
                        </a:rPr>
                        <a:t>OpenVINS on EuRoC + Gazebo → drift &lt; 1.5% → est-vs-GT plots → documented ROS2 workspace = all 4 DP7 deliverables</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80" dirty="0">
                          <a:solidFill>
                            <a:srgbClr val="1B2A36"/>
                          </a:solidFill>
                          <a:latin typeface="Segoe UI" pitchFamily="34" charset="0"/>
                          <a:ea typeface="Segoe UI" pitchFamily="34" charset="-122"/>
                          <a:cs typeface="Segoe UI" pitchFamily="34" charset="-120"/>
                        </a:rPr>
                        <a:t>HIGH (by 11 Jun)</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r>
              <a:tr h="548640">
                <a:tc>
                  <a:txBody>
                    <a:bodyPr/>
                    <a:lstStyle/>
                    <a:p>
                      <a:pPr indent="0" marL="0">
                        <a:buNone/>
                      </a:pPr>
                      <a:r>
                        <a:rPr lang="en-US" sz="980" b="1" dirty="0">
                          <a:solidFill>
                            <a:srgbClr val="2E5F84"/>
                          </a:solidFill>
                          <a:latin typeface="Segoe UI" pitchFamily="34" charset="0"/>
                          <a:ea typeface="Segoe UI" pitchFamily="34" charset="-122"/>
                          <a:cs typeface="Segoe UI" pitchFamily="34" charset="-120"/>
                        </a:rPr>
                        <a:t>LIVE DEMO</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80" dirty="0">
                          <a:solidFill>
                            <a:srgbClr val="1B2A36"/>
                          </a:solidFill>
                          <a:latin typeface="Segoe UI" pitchFamily="34" charset="0"/>
                          <a:ea typeface="Segoe UI" pitchFamily="34" charset="-122"/>
                          <a:cs typeface="Segoe UI" pitchFamily="34" charset="-120"/>
                        </a:rPr>
                        <a:t>Python integrity_monitor on OpenVINS' published covariance → breathing bound + NEES + kill-camera. No C++ fork on the critical path.</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80" dirty="0">
                          <a:solidFill>
                            <a:srgbClr val="1B2A36"/>
                          </a:solidFill>
                          <a:latin typeface="Segoe UI" pitchFamily="34" charset="0"/>
                          <a:ea typeface="Segoe UI" pitchFamily="34" charset="-122"/>
                          <a:cs typeface="Segoe UI" pitchFamily="34" charset="-120"/>
                        </a:rPr>
                        <a:t>MEDIUM-HIGH</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r>
              <a:tr h="548640">
                <a:tc>
                  <a:txBody>
                    <a:bodyPr/>
                    <a:lstStyle/>
                    <a:p>
                      <a:pPr indent="0" marL="0">
                        <a:buNone/>
                      </a:pPr>
                      <a:r>
                        <a:rPr lang="en-US" sz="980" b="1" dirty="0">
                          <a:solidFill>
                            <a:srgbClr val="7E8A93"/>
                          </a:solidFill>
                          <a:latin typeface="Segoe UI" pitchFamily="34" charset="0"/>
                          <a:ea typeface="Segoe UI" pitchFamily="34" charset="-122"/>
                          <a:cs typeface="Segoe UI" pitchFamily="34" charset="-120"/>
                        </a:rPr>
                        <a:t>STRETCH</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80" dirty="0">
                          <a:solidFill>
                            <a:srgbClr val="1B2A36"/>
                          </a:solidFill>
                          <a:latin typeface="Segoe UI" pitchFamily="34" charset="0"/>
                          <a:ea typeface="Segoe UI" pitchFamily="34" charset="-122"/>
                          <a:cs typeface="Segoe UI" pitchFamily="34" charset="-120"/>
                        </a:rPr>
                        <a:t>C++ MSCKF fork · full whitened-D · generalized-eigenvalue RAIM slope → derived + computed OFFLINE, presented not bet</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80" dirty="0">
                          <a:solidFill>
                            <a:srgbClr val="1B2A36"/>
                          </a:solidFill>
                          <a:latin typeface="Segoe UI" pitchFamily="34" charset="0"/>
                          <a:ea typeface="Segoe UI" pitchFamily="34" charset="-122"/>
                          <a:cs typeface="Segoe UI" pitchFamily="34" charset="-120"/>
                        </a:rPr>
                        <a:t>DAY-4 ONLY</a:t>
                      </a:r>
                      <a:endParaRPr lang="en-US" sz="980" dirty="0">
                        <a:latin typeface="Segoe UI" charset="0"/>
                        <a:ea typeface="Segoe UI" charset="0"/>
                        <a:cs typeface="Segoe UI" charset="0"/>
                      </a:endParaRPr>
                    </a:p>
                  </a:txBody>
                  <a:tcPr marL="76200" marR="76200" marT="38100" marB="381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r>
            </a:tbl>
          </a:graphicData>
        </a:graphic>
      </p:graphicFrame>
      <p:sp>
        <p:nvSpPr>
          <p:cNvPr id="17" name="Text 14"/>
          <p:cNvSpPr/>
          <p:nvPr/>
        </p:nvSpPr>
        <p:spPr>
          <a:xfrm>
            <a:off x="502920" y="3886200"/>
            <a:ext cx="4572000" cy="237744"/>
          </a:xfrm>
          <a:prstGeom prst="rect">
            <a:avLst/>
          </a:prstGeom>
          <a:noFill/>
          <a:ln/>
        </p:spPr>
        <p:txBody>
          <a:bodyPr wrap="square" lIns="0" tIns="0" rIns="0" bIns="0" rtlCol="0" anchor="ctr"/>
          <a:lstStyle/>
          <a:p>
            <a:pPr indent="0" marL="0">
              <a:buNone/>
            </a:pPr>
            <a:r>
              <a:rPr lang="en-US" sz="950" b="1" spc="150" kern="0" dirty="0">
                <a:solidFill>
                  <a:srgbClr val="2E5F84"/>
                </a:solidFill>
                <a:latin typeface="Consolas" pitchFamily="34" charset="0"/>
                <a:ea typeface="Consolas" pitchFamily="34" charset="-122"/>
                <a:cs typeface="Consolas" pitchFamily="34" charset="-120"/>
              </a:rPr>
              <a:t>BUILD TIMELINE</a:t>
            </a:r>
            <a:endParaRPr lang="en-US" sz="950" dirty="0"/>
          </a:p>
        </p:txBody>
      </p:sp>
      <p:sp>
        <p:nvSpPr>
          <p:cNvPr id="18" name="Shape 15"/>
          <p:cNvSpPr/>
          <p:nvPr/>
        </p:nvSpPr>
        <p:spPr>
          <a:xfrm>
            <a:off x="502920" y="4206240"/>
            <a:ext cx="2715768" cy="1325880"/>
          </a:xfrm>
          <a:prstGeom prst="rect">
            <a:avLst/>
          </a:prstGeom>
          <a:solidFill>
            <a:srgbClr val="F6E2DF"/>
          </a:solidFill>
          <a:ln w="19050">
            <a:solidFill>
              <a:srgbClr val="C42A1C"/>
            </a:solidFill>
            <a:prstDash val="solid"/>
          </a:ln>
        </p:spPr>
      </p:sp>
      <p:sp>
        <p:nvSpPr>
          <p:cNvPr id="19" name="Text 16"/>
          <p:cNvSpPr/>
          <p:nvPr/>
        </p:nvSpPr>
        <p:spPr>
          <a:xfrm>
            <a:off x="667512" y="4315968"/>
            <a:ext cx="2441448" cy="274320"/>
          </a:xfrm>
          <a:prstGeom prst="rect">
            <a:avLst/>
          </a:prstGeom>
          <a:noFill/>
          <a:ln/>
        </p:spPr>
        <p:txBody>
          <a:bodyPr wrap="square" lIns="0" tIns="0" rIns="0" bIns="0" rtlCol="0" anchor="ctr"/>
          <a:lstStyle/>
          <a:p>
            <a:pPr indent="0" marL="0">
              <a:buNone/>
            </a:pPr>
            <a:r>
              <a:rPr lang="en-US" sz="1300" b="1" dirty="0">
                <a:solidFill>
                  <a:srgbClr val="1B2A36"/>
                </a:solidFill>
                <a:latin typeface="Georgia" pitchFamily="34" charset="0"/>
                <a:ea typeface="Georgia" pitchFamily="34" charset="-122"/>
                <a:cs typeface="Georgia" pitchFamily="34" charset="-120"/>
              </a:rPr>
              <a:t>DAY 0</a:t>
            </a:r>
            <a:endParaRPr lang="en-US" sz="1300" dirty="0"/>
          </a:p>
        </p:txBody>
      </p:sp>
      <p:sp>
        <p:nvSpPr>
          <p:cNvPr id="20" name="Text 17"/>
          <p:cNvSpPr/>
          <p:nvPr/>
        </p:nvSpPr>
        <p:spPr>
          <a:xfrm>
            <a:off x="667512" y="4608576"/>
            <a:ext cx="2441448" cy="237744"/>
          </a:xfrm>
          <a:prstGeom prst="rect">
            <a:avLst/>
          </a:prstGeom>
          <a:noFill/>
          <a:ln/>
        </p:spPr>
        <p:txBody>
          <a:bodyPr wrap="square" lIns="0" tIns="0" rIns="0" bIns="0" rtlCol="0" anchor="ctr"/>
          <a:lstStyle/>
          <a:p>
            <a:pPr indent="0" marL="0">
              <a:buNone/>
            </a:pPr>
            <a:r>
              <a:rPr lang="en-US" sz="900" b="1" spc="100" kern="0" dirty="0">
                <a:solidFill>
                  <a:srgbClr val="C42A1C"/>
                </a:solidFill>
                <a:latin typeface="Consolas" pitchFamily="34" charset="0"/>
                <a:ea typeface="Consolas" pitchFamily="34" charset="-122"/>
                <a:cs typeface="Consolas" pitchFamily="34" charset="-120"/>
              </a:rPr>
              <a:t>tonight</a:t>
            </a:r>
            <a:endParaRPr lang="en-US" sz="900" dirty="0"/>
          </a:p>
        </p:txBody>
      </p:sp>
      <p:sp>
        <p:nvSpPr>
          <p:cNvPr id="21" name="Text 18"/>
          <p:cNvSpPr/>
          <p:nvPr/>
        </p:nvSpPr>
        <p:spPr>
          <a:xfrm>
            <a:off x="667512" y="4882896"/>
            <a:ext cx="2404872" cy="603504"/>
          </a:xfrm>
          <a:prstGeom prst="rect">
            <a:avLst/>
          </a:prstGeom>
          <a:noFill/>
          <a:ln/>
        </p:spPr>
        <p:txBody>
          <a:bodyPr wrap="square" lIns="0" tIns="0" rIns="0" bIns="0" rtlCol="0" anchor="ctr"/>
          <a:lstStyle/>
          <a:p>
            <a:pPr indent="0" marL="0">
              <a:lnSpc>
                <a:spcPts val="1150"/>
              </a:lnSpc>
              <a:buNone/>
            </a:pPr>
            <a:r>
              <a:rPr lang="en-US" sz="900" dirty="0">
                <a:solidFill>
                  <a:srgbClr val="1B2A36"/>
                </a:solidFill>
                <a:latin typeface="Segoe UI" pitchFamily="34" charset="0"/>
                <a:ea typeface="Segoe UI" pitchFamily="34" charset="-122"/>
                <a:cs typeface="Segoe UI" pitchFamily="34" charset="-120"/>
              </a:rPr>
              <a:t>Windows → Ubuntu 22.04 · ROS2 Humble · Gazebo Harmonic · OpenVINS</a:t>
            </a:r>
            <a:endParaRPr lang="en-US" sz="900" dirty="0"/>
          </a:p>
        </p:txBody>
      </p:sp>
      <p:sp>
        <p:nvSpPr>
          <p:cNvPr id="22" name="Shape 19"/>
          <p:cNvSpPr/>
          <p:nvPr/>
        </p:nvSpPr>
        <p:spPr>
          <a:xfrm>
            <a:off x="3236976" y="4864608"/>
            <a:ext cx="109728" cy="0"/>
          </a:xfrm>
          <a:prstGeom prst="line">
            <a:avLst/>
          </a:prstGeom>
          <a:noFill/>
          <a:ln w="19050">
            <a:solidFill>
              <a:srgbClr val="7E8A93"/>
            </a:solidFill>
            <a:prstDash val="solid"/>
            <a:tailEnd type="triangle"/>
          </a:ln>
        </p:spPr>
      </p:sp>
      <p:sp>
        <p:nvSpPr>
          <p:cNvPr id="23" name="Shape 20"/>
          <p:cNvSpPr/>
          <p:nvPr/>
        </p:nvSpPr>
        <p:spPr>
          <a:xfrm>
            <a:off x="3364992" y="4206240"/>
            <a:ext cx="2715768" cy="1325880"/>
          </a:xfrm>
          <a:prstGeom prst="rect">
            <a:avLst/>
          </a:prstGeom>
          <a:solidFill>
            <a:srgbClr val="0F1A10"/>
          </a:solidFill>
          <a:ln w="19050">
            <a:solidFill>
              <a:srgbClr val="2F7D4F"/>
            </a:solidFill>
            <a:prstDash val="solid"/>
          </a:ln>
        </p:spPr>
      </p:sp>
      <p:sp>
        <p:nvSpPr>
          <p:cNvPr id="24" name="Text 21"/>
          <p:cNvSpPr/>
          <p:nvPr/>
        </p:nvSpPr>
        <p:spPr>
          <a:xfrm>
            <a:off x="3529584" y="4315968"/>
            <a:ext cx="2441448" cy="274320"/>
          </a:xfrm>
          <a:prstGeom prst="rect">
            <a:avLst/>
          </a:prstGeom>
          <a:noFill/>
          <a:ln/>
        </p:spPr>
        <p:txBody>
          <a:bodyPr wrap="square" lIns="0" tIns="0" rIns="0" bIns="0" rtlCol="0" anchor="ctr"/>
          <a:lstStyle/>
          <a:p>
            <a:pPr indent="0" marL="0">
              <a:buNone/>
            </a:pPr>
            <a:r>
              <a:rPr lang="en-US" sz="1300" b="1" dirty="0">
                <a:solidFill>
                  <a:srgbClr val="1B2A36"/>
                </a:solidFill>
                <a:latin typeface="Georgia" pitchFamily="34" charset="0"/>
                <a:ea typeface="Georgia" pitchFamily="34" charset="-122"/>
                <a:cs typeface="Georgia" pitchFamily="34" charset="-120"/>
              </a:rPr>
              <a:t>DAY 1–2</a:t>
            </a:r>
            <a:endParaRPr lang="en-US" sz="1300" dirty="0"/>
          </a:p>
        </p:txBody>
      </p:sp>
      <p:sp>
        <p:nvSpPr>
          <p:cNvPr id="25" name="Text 22"/>
          <p:cNvSpPr/>
          <p:nvPr/>
        </p:nvSpPr>
        <p:spPr>
          <a:xfrm>
            <a:off x="3529584" y="4608576"/>
            <a:ext cx="2441448" cy="237744"/>
          </a:xfrm>
          <a:prstGeom prst="rect">
            <a:avLst/>
          </a:prstGeom>
          <a:noFill/>
          <a:ln/>
        </p:spPr>
        <p:txBody>
          <a:bodyPr wrap="square" lIns="0" tIns="0" rIns="0" bIns="0" rtlCol="0" anchor="ctr"/>
          <a:lstStyle/>
          <a:p>
            <a:pPr indent="0" marL="0">
              <a:buNone/>
            </a:pPr>
            <a:r>
              <a:rPr lang="en-US" sz="900" b="1" spc="100" kern="0" dirty="0">
                <a:solidFill>
                  <a:srgbClr val="2F7D4F"/>
                </a:solidFill>
                <a:latin typeface="Consolas" pitchFamily="34" charset="0"/>
                <a:ea typeface="Consolas" pitchFamily="34" charset="-122"/>
                <a:cs typeface="Consolas" pitchFamily="34" charset="-120"/>
              </a:rPr>
              <a:t>FLOOR LOCKED</a:t>
            </a:r>
            <a:endParaRPr lang="en-US" sz="900" dirty="0"/>
          </a:p>
        </p:txBody>
      </p:sp>
      <p:sp>
        <p:nvSpPr>
          <p:cNvPr id="26" name="Text 23"/>
          <p:cNvSpPr/>
          <p:nvPr/>
        </p:nvSpPr>
        <p:spPr>
          <a:xfrm>
            <a:off x="3529584" y="4882896"/>
            <a:ext cx="2404872" cy="603504"/>
          </a:xfrm>
          <a:prstGeom prst="rect">
            <a:avLst/>
          </a:prstGeom>
          <a:noFill/>
          <a:ln/>
        </p:spPr>
        <p:txBody>
          <a:bodyPr wrap="square" lIns="0" tIns="0" rIns="0" bIns="0" rtlCol="0" anchor="ctr"/>
          <a:lstStyle/>
          <a:p>
            <a:pPr indent="0" marL="0">
              <a:lnSpc>
                <a:spcPts val="1150"/>
              </a:lnSpc>
              <a:buNone/>
            </a:pPr>
            <a:r>
              <a:rPr lang="en-US" sz="900" dirty="0">
                <a:solidFill>
                  <a:srgbClr val="1B2A36"/>
                </a:solidFill>
                <a:latin typeface="Segoe UI" pitchFamily="34" charset="0"/>
                <a:ea typeface="Segoe UI" pitchFamily="34" charset="-122"/>
                <a:cs typeface="Segoe UI" pitchFamily="34" charset="-120"/>
              </a:rPr>
              <a:t>OpenVINS on EuRoC + sim → all 4 DP7 deliverables</a:t>
            </a:r>
            <a:endParaRPr lang="en-US" sz="900" dirty="0"/>
          </a:p>
        </p:txBody>
      </p:sp>
      <p:sp>
        <p:nvSpPr>
          <p:cNvPr id="27" name="Shape 24"/>
          <p:cNvSpPr/>
          <p:nvPr/>
        </p:nvSpPr>
        <p:spPr>
          <a:xfrm>
            <a:off x="6099048" y="4864608"/>
            <a:ext cx="109728" cy="0"/>
          </a:xfrm>
          <a:prstGeom prst="line">
            <a:avLst/>
          </a:prstGeom>
          <a:noFill/>
          <a:ln w="19050">
            <a:solidFill>
              <a:srgbClr val="7E8A93"/>
            </a:solidFill>
            <a:prstDash val="solid"/>
            <a:tailEnd type="triangle"/>
          </a:ln>
        </p:spPr>
      </p:sp>
      <p:sp>
        <p:nvSpPr>
          <p:cNvPr id="28" name="Shape 25"/>
          <p:cNvSpPr/>
          <p:nvPr/>
        </p:nvSpPr>
        <p:spPr>
          <a:xfrm>
            <a:off x="6227064" y="4206240"/>
            <a:ext cx="2715768" cy="1325880"/>
          </a:xfrm>
          <a:prstGeom prst="rect">
            <a:avLst/>
          </a:prstGeom>
          <a:solidFill>
            <a:srgbClr val="FFFFFF"/>
          </a:solidFill>
          <a:ln w="12700">
            <a:solidFill>
              <a:srgbClr val="2E5F84"/>
            </a:solidFill>
            <a:prstDash val="solid"/>
          </a:ln>
        </p:spPr>
      </p:sp>
      <p:sp>
        <p:nvSpPr>
          <p:cNvPr id="29" name="Text 26"/>
          <p:cNvSpPr/>
          <p:nvPr/>
        </p:nvSpPr>
        <p:spPr>
          <a:xfrm>
            <a:off x="6391656" y="4315968"/>
            <a:ext cx="2441448" cy="274320"/>
          </a:xfrm>
          <a:prstGeom prst="rect">
            <a:avLst/>
          </a:prstGeom>
          <a:noFill/>
          <a:ln/>
        </p:spPr>
        <p:txBody>
          <a:bodyPr wrap="square" lIns="0" tIns="0" rIns="0" bIns="0" rtlCol="0" anchor="ctr"/>
          <a:lstStyle/>
          <a:p>
            <a:pPr indent="0" marL="0">
              <a:buNone/>
            </a:pPr>
            <a:r>
              <a:rPr lang="en-US" sz="1300" b="1" dirty="0">
                <a:solidFill>
                  <a:srgbClr val="1B2A36"/>
                </a:solidFill>
                <a:latin typeface="Georgia" pitchFamily="34" charset="0"/>
                <a:ea typeface="Georgia" pitchFamily="34" charset="-122"/>
                <a:cs typeface="Georgia" pitchFamily="34" charset="-120"/>
              </a:rPr>
              <a:t>DAY 3</a:t>
            </a:r>
            <a:endParaRPr lang="en-US" sz="1300" dirty="0"/>
          </a:p>
        </p:txBody>
      </p:sp>
      <p:sp>
        <p:nvSpPr>
          <p:cNvPr id="30" name="Text 27"/>
          <p:cNvSpPr/>
          <p:nvPr/>
        </p:nvSpPr>
        <p:spPr>
          <a:xfrm>
            <a:off x="6391656" y="4608576"/>
            <a:ext cx="2441448" cy="237744"/>
          </a:xfrm>
          <a:prstGeom prst="rect">
            <a:avLst/>
          </a:prstGeom>
          <a:noFill/>
          <a:ln/>
        </p:spPr>
        <p:txBody>
          <a:bodyPr wrap="square" lIns="0" tIns="0" rIns="0" bIns="0" rtlCol="0" anchor="ctr"/>
          <a:lstStyle/>
          <a:p>
            <a:pPr indent="0" marL="0">
              <a:buNone/>
            </a:pPr>
            <a:r>
              <a:rPr lang="en-US" sz="900" b="1" spc="100" kern="0" dirty="0">
                <a:solidFill>
                  <a:srgbClr val="2E5F84"/>
                </a:solidFill>
                <a:latin typeface="Consolas" pitchFamily="34" charset="0"/>
                <a:ea typeface="Consolas" pitchFamily="34" charset="-122"/>
                <a:cs typeface="Consolas" pitchFamily="34" charset="-120"/>
              </a:rPr>
              <a:t>UPSIDE</a:t>
            </a:r>
            <a:endParaRPr lang="en-US" sz="900" dirty="0"/>
          </a:p>
        </p:txBody>
      </p:sp>
      <p:sp>
        <p:nvSpPr>
          <p:cNvPr id="31" name="Text 28"/>
          <p:cNvSpPr/>
          <p:nvPr/>
        </p:nvSpPr>
        <p:spPr>
          <a:xfrm>
            <a:off x="6391656" y="4882896"/>
            <a:ext cx="2404872" cy="603504"/>
          </a:xfrm>
          <a:prstGeom prst="rect">
            <a:avLst/>
          </a:prstGeom>
          <a:noFill/>
          <a:ln/>
        </p:spPr>
        <p:txBody>
          <a:bodyPr wrap="square" lIns="0" tIns="0" rIns="0" bIns="0" rtlCol="0" anchor="ctr"/>
          <a:lstStyle/>
          <a:p>
            <a:pPr indent="0" marL="0">
              <a:lnSpc>
                <a:spcPts val="1150"/>
              </a:lnSpc>
              <a:buNone/>
            </a:pPr>
            <a:r>
              <a:rPr lang="en-US" sz="900" dirty="0">
                <a:solidFill>
                  <a:srgbClr val="1B2A36"/>
                </a:solidFill>
                <a:latin typeface="Segoe UI" pitchFamily="34" charset="0"/>
                <a:ea typeface="Segoe UI" pitchFamily="34" charset="-122"/>
                <a:cs typeface="Segoe UI" pitchFamily="34" charset="-120"/>
              </a:rPr>
              <a:t>integrity layer live · kill-camera demo · NEES</a:t>
            </a:r>
            <a:endParaRPr lang="en-US" sz="900" dirty="0"/>
          </a:p>
        </p:txBody>
      </p:sp>
      <p:sp>
        <p:nvSpPr>
          <p:cNvPr id="32" name="Shape 29"/>
          <p:cNvSpPr/>
          <p:nvPr/>
        </p:nvSpPr>
        <p:spPr>
          <a:xfrm>
            <a:off x="8961120" y="4864608"/>
            <a:ext cx="109728" cy="0"/>
          </a:xfrm>
          <a:prstGeom prst="line">
            <a:avLst/>
          </a:prstGeom>
          <a:noFill/>
          <a:ln w="19050">
            <a:solidFill>
              <a:srgbClr val="7E8A93"/>
            </a:solidFill>
            <a:prstDash val="solid"/>
            <a:tailEnd type="triangle"/>
          </a:ln>
        </p:spPr>
      </p:sp>
      <p:sp>
        <p:nvSpPr>
          <p:cNvPr id="33" name="Shape 30"/>
          <p:cNvSpPr/>
          <p:nvPr/>
        </p:nvSpPr>
        <p:spPr>
          <a:xfrm>
            <a:off x="9089136" y="4206240"/>
            <a:ext cx="2715768" cy="1325880"/>
          </a:xfrm>
          <a:prstGeom prst="rect">
            <a:avLst/>
          </a:prstGeom>
          <a:solidFill>
            <a:srgbClr val="FFFFFF"/>
          </a:solidFill>
          <a:ln w="12700">
            <a:solidFill>
              <a:srgbClr val="2E5F84"/>
            </a:solidFill>
            <a:prstDash val="solid"/>
          </a:ln>
        </p:spPr>
      </p:sp>
      <p:sp>
        <p:nvSpPr>
          <p:cNvPr id="34" name="Text 31"/>
          <p:cNvSpPr/>
          <p:nvPr/>
        </p:nvSpPr>
        <p:spPr>
          <a:xfrm>
            <a:off x="9253728" y="4315968"/>
            <a:ext cx="2441448" cy="274320"/>
          </a:xfrm>
          <a:prstGeom prst="rect">
            <a:avLst/>
          </a:prstGeom>
          <a:noFill/>
          <a:ln/>
        </p:spPr>
        <p:txBody>
          <a:bodyPr wrap="square" lIns="0" tIns="0" rIns="0" bIns="0" rtlCol="0" anchor="ctr"/>
          <a:lstStyle/>
          <a:p>
            <a:pPr indent="0" marL="0">
              <a:buNone/>
            </a:pPr>
            <a:r>
              <a:rPr lang="en-US" sz="1300" b="1" dirty="0">
                <a:solidFill>
                  <a:srgbClr val="1B2A36"/>
                </a:solidFill>
                <a:latin typeface="Georgia" pitchFamily="34" charset="0"/>
                <a:ea typeface="Georgia" pitchFamily="34" charset="-122"/>
                <a:cs typeface="Georgia" pitchFamily="34" charset="-120"/>
              </a:rPr>
              <a:t>DAY 4</a:t>
            </a:r>
            <a:endParaRPr lang="en-US" sz="1300" dirty="0"/>
          </a:p>
        </p:txBody>
      </p:sp>
      <p:sp>
        <p:nvSpPr>
          <p:cNvPr id="35" name="Text 32"/>
          <p:cNvSpPr/>
          <p:nvPr/>
        </p:nvSpPr>
        <p:spPr>
          <a:xfrm>
            <a:off x="9253728" y="4608576"/>
            <a:ext cx="2441448" cy="237744"/>
          </a:xfrm>
          <a:prstGeom prst="rect">
            <a:avLst/>
          </a:prstGeom>
          <a:noFill/>
          <a:ln/>
        </p:spPr>
        <p:txBody>
          <a:bodyPr wrap="square" lIns="0" tIns="0" rIns="0" bIns="0" rtlCol="0" anchor="ctr"/>
          <a:lstStyle/>
          <a:p>
            <a:pPr indent="0" marL="0">
              <a:buNone/>
            </a:pPr>
            <a:r>
              <a:rPr lang="en-US" sz="900" b="1" spc="100" kern="0" dirty="0">
                <a:solidFill>
                  <a:srgbClr val="2E5F84"/>
                </a:solidFill>
                <a:latin typeface="Consolas" pitchFamily="34" charset="0"/>
                <a:ea typeface="Consolas" pitchFamily="34" charset="-122"/>
                <a:cs typeface="Consolas" pitchFamily="34" charset="-120"/>
              </a:rPr>
              <a:t>POLISH</a:t>
            </a:r>
            <a:endParaRPr lang="en-US" sz="900" dirty="0"/>
          </a:p>
        </p:txBody>
      </p:sp>
      <p:sp>
        <p:nvSpPr>
          <p:cNvPr id="36" name="Text 33"/>
          <p:cNvSpPr/>
          <p:nvPr/>
        </p:nvSpPr>
        <p:spPr>
          <a:xfrm>
            <a:off x="9253728" y="4882896"/>
            <a:ext cx="2404872" cy="603504"/>
          </a:xfrm>
          <a:prstGeom prst="rect">
            <a:avLst/>
          </a:prstGeom>
          <a:noFill/>
          <a:ln/>
        </p:spPr>
        <p:txBody>
          <a:bodyPr wrap="square" lIns="0" tIns="0" rIns="0" bIns="0" rtlCol="0" anchor="ctr"/>
          <a:lstStyle/>
          <a:p>
            <a:pPr indent="0" marL="0">
              <a:lnSpc>
                <a:spcPts val="1150"/>
              </a:lnSpc>
              <a:buNone/>
            </a:pPr>
            <a:r>
              <a:rPr lang="en-US" sz="900" dirty="0">
                <a:solidFill>
                  <a:srgbClr val="1B2A36"/>
                </a:solidFill>
                <a:latin typeface="Segoe UI" pitchFamily="34" charset="0"/>
                <a:ea typeface="Segoe UI" pitchFamily="34" charset="-122"/>
                <a:cs typeface="Segoe UI" pitchFamily="34" charset="-120"/>
              </a:rPr>
              <a:t>breathing cockpit · golden rosbag · backup video</a:t>
            </a:r>
            <a:endParaRPr lang="en-US" sz="900" dirty="0"/>
          </a:p>
        </p:txBody>
      </p:sp>
      <p:sp>
        <p:nvSpPr>
          <p:cNvPr id="37" name="Text 34"/>
          <p:cNvSpPr/>
          <p:nvPr/>
        </p:nvSpPr>
        <p:spPr>
          <a:xfrm>
            <a:off x="502920" y="5669280"/>
            <a:ext cx="11155680" cy="502920"/>
          </a:xfrm>
          <a:prstGeom prst="rect">
            <a:avLst/>
          </a:prstGeom>
          <a:noFill/>
          <a:ln/>
        </p:spPr>
        <p:txBody>
          <a:bodyPr wrap="square" lIns="0" tIns="0" rIns="0" bIns="0" rtlCol="0" anchor="ctr"/>
          <a:lstStyle/>
          <a:p>
            <a:pPr indent="0" marL="0">
              <a:lnSpc>
                <a:spcPts val="1300"/>
              </a:lnSpc>
              <a:buNone/>
            </a:pPr>
            <a:r>
              <a:rPr lang="en-US" sz="1000" i="1" dirty="0">
                <a:solidFill>
                  <a:srgbClr val="2E5F84"/>
                </a:solidFill>
                <a:latin typeface="Segoe UI" pitchFamily="34" charset="0"/>
                <a:ea typeface="Segoe UI" pitchFamily="34" charset="-122"/>
                <a:cs typeface="Segoe UI" pitchFamily="34" charset="-120"/>
              </a:rPr>
              <a:t>#1 risk is Day-0 (the environment) — done first, with a cloud-GPU fallback. The EuRoC anchor sits under every later risk: a bad sim day still yields all four deliverables. Promise three, land three.</a:t>
            </a:r>
            <a:endParaRPr lang="en-US" sz="1000" dirty="0"/>
          </a:p>
        </p:txBody>
      </p:sp>
      <p:sp>
        <p:nvSpPr>
          <p:cNvPr id="38" name="Shape 35"/>
          <p:cNvSpPr/>
          <p:nvPr/>
        </p:nvSpPr>
        <p:spPr>
          <a:xfrm>
            <a:off x="502920" y="6400800"/>
            <a:ext cx="11183112" cy="0"/>
          </a:xfrm>
          <a:prstGeom prst="line">
            <a:avLst/>
          </a:prstGeom>
          <a:noFill/>
          <a:ln w="9525">
            <a:solidFill>
              <a:srgbClr val="D7DDE2"/>
            </a:solidFill>
            <a:prstDash val="solid"/>
          </a:ln>
        </p:spPr>
      </p:sp>
      <p:sp>
        <p:nvSpPr>
          <p:cNvPr id="39" name="Text 36"/>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5/10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597896" y="420624"/>
            <a:ext cx="841248" cy="585216"/>
          </a:xfrm>
          <a:prstGeom prst="ellipse">
            <a:avLst/>
          </a:prstGeom>
          <a:solidFill>
            <a:srgbClr val="2E5F84">
              <a:alpha val="0"/>
            </a:srgbClr>
          </a:solidFill>
          <a:ln w="9525">
            <a:solidFill>
              <a:srgbClr val="2E5F84"/>
            </a:solidFill>
            <a:prstDash val="dash"/>
          </a:ln>
        </p:spPr>
      </p:sp>
      <p:sp>
        <p:nvSpPr>
          <p:cNvPr id="12" name="Shape 10"/>
          <p:cNvSpPr/>
          <p:nvPr/>
        </p:nvSpPr>
        <p:spPr>
          <a:xfrm>
            <a:off x="10744200" y="521208"/>
            <a:ext cx="548640" cy="384048"/>
          </a:xfrm>
          <a:prstGeom prst="ellipse">
            <a:avLst/>
          </a:prstGeom>
          <a:solidFill>
            <a:srgbClr val="2E5F84">
              <a:alpha val="0"/>
            </a:srgbClr>
          </a:solidFill>
          <a:ln w="19050">
            <a:solidFill>
              <a:srgbClr val="2E5F84"/>
            </a:solidFill>
            <a:prstDash val="solid"/>
          </a:ln>
        </p:spPr>
      </p:sp>
      <p:sp>
        <p:nvSpPr>
          <p:cNvPr id="13" name="Shape 11"/>
          <p:cNvSpPr/>
          <p:nvPr/>
        </p:nvSpPr>
        <p:spPr>
          <a:xfrm>
            <a:off x="11041380" y="681228"/>
            <a:ext cx="64008" cy="64008"/>
          </a:xfrm>
          <a:prstGeom prst="ellipse">
            <a:avLst/>
          </a:prstGeom>
          <a:solidFill>
            <a:srgbClr val="C42A1C"/>
          </a:solidFill>
          <a:ln/>
        </p:spPr>
      </p:sp>
      <p:sp>
        <p:nvSpPr>
          <p:cNvPr id="14" name="Text 12"/>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5" name="Text 13"/>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3 · INNOVATIVENESS · SHEET 06/10</a:t>
            </a:r>
            <a:endParaRPr lang="en-US" sz="900" dirty="0"/>
          </a:p>
        </p:txBody>
      </p:sp>
      <p:sp>
        <p:nvSpPr>
          <p:cNvPr id="16" name="Text 14"/>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Integrity-aware VIO = RAIM for the vision aid</a:t>
            </a:r>
            <a:endParaRPr lang="en-US" sz="2400" dirty="0"/>
          </a:p>
        </p:txBody>
      </p:sp>
      <p:sp>
        <p:nvSpPr>
          <p:cNvPr id="17" name="Text 15"/>
          <p:cNvSpPr/>
          <p:nvPr/>
        </p:nvSpPr>
        <p:spPr>
          <a:xfrm>
            <a:off x="502920" y="1572768"/>
            <a:ext cx="457200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OBSERVABILITY INDEX  D ∈ [0,1]</a:t>
            </a:r>
            <a:endParaRPr lang="en-US" sz="950" dirty="0"/>
          </a:p>
        </p:txBody>
      </p:sp>
      <p:sp>
        <p:nvSpPr>
          <p:cNvPr id="18" name="Text 16"/>
          <p:cNvSpPr/>
          <p:nvPr/>
        </p:nvSpPr>
        <p:spPr>
          <a:xfrm>
            <a:off x="502920" y="1810512"/>
            <a:ext cx="4572000" cy="99669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The smallest eigenvalue of the whitened visual-information matrix on the motion-degenerate subspace — knows WHICH state direction vision can't see (e.g. metric scale), not merely ‘few features.’ Grounded in Zhang&amp;Singh / OC-EKF.</a:t>
            </a:r>
            <a:endParaRPr lang="en-US" sz="1000" dirty="0"/>
          </a:p>
        </p:txBody>
      </p:sp>
      <p:sp>
        <p:nvSpPr>
          <p:cNvPr id="19" name="Text 17"/>
          <p:cNvSpPr/>
          <p:nvPr/>
        </p:nvSpPr>
        <p:spPr>
          <a:xfrm>
            <a:off x="502920" y="2880360"/>
            <a:ext cx="457200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A DUAL, FAULT-DERIVED BOUND</a:t>
            </a:r>
            <a:endParaRPr lang="en-US" sz="950" dirty="0"/>
          </a:p>
        </p:txBody>
      </p:sp>
      <p:sp>
        <p:nvSpPr>
          <p:cNvPr id="20" name="Text 18"/>
          <p:cNvSpPr/>
          <p:nvPr/>
        </p:nvSpPr>
        <p:spPr>
          <a:xfrm>
            <a:off x="502920" y="3118104"/>
            <a:ext cx="4572000" cy="99669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Not a σ-ellipse: a real fault hypothesis + non-central-χ² detection → a protection level on the segment-RPE quantity DP7 grades. Operational k=2.45 (95%) AND DAL-C k=6.74 — both scipy-verified.</a:t>
            </a:r>
            <a:endParaRPr lang="en-US" sz="1000" dirty="0"/>
          </a:p>
        </p:txBody>
      </p:sp>
      <p:sp>
        <p:nvSpPr>
          <p:cNvPr id="21" name="Text 19"/>
          <p:cNvSpPr/>
          <p:nvPr/>
        </p:nvSpPr>
        <p:spPr>
          <a:xfrm>
            <a:off x="502920" y="4187952"/>
            <a:ext cx="457200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THE BOUND IS HONEST</a:t>
            </a:r>
            <a:endParaRPr lang="en-US" sz="950" dirty="0"/>
          </a:p>
        </p:txBody>
      </p:sp>
      <p:sp>
        <p:nvSpPr>
          <p:cNvPr id="22" name="Text 20"/>
          <p:cNvSpPr/>
          <p:nvPr/>
        </p:nvSpPr>
        <p:spPr>
          <a:xfrm>
            <a:off x="502920" y="4425696"/>
            <a:ext cx="4572000" cy="90525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NEES vs ground truth proves the claimed bound actually covers the truth — in nominal AND outage windows. Integrity is meaningless if the bound lies.</a:t>
            </a:r>
            <a:endParaRPr lang="en-US" sz="1000" dirty="0"/>
          </a:p>
        </p:txBody>
      </p:sp>
      <p:sp>
        <p:nvSpPr>
          <p:cNvPr id="23" name="Text 21"/>
          <p:cNvSpPr/>
          <p:nvPr/>
        </p:nvSpPr>
        <p:spPr>
          <a:xfrm>
            <a:off x="502920" y="5394960"/>
            <a:ext cx="4572000" cy="777240"/>
          </a:xfrm>
          <a:prstGeom prst="rect">
            <a:avLst/>
          </a:prstGeom>
          <a:noFill/>
          <a:ln/>
        </p:spPr>
        <p:txBody>
          <a:bodyPr wrap="square" lIns="0" tIns="0" rIns="0" bIns="0" rtlCol="0" anchor="ctr"/>
          <a:lstStyle/>
          <a:p>
            <a:pPr indent="0" marL="0">
              <a:lnSpc>
                <a:spcPts val="1200"/>
              </a:lnSpc>
              <a:buNone/>
            </a:pPr>
            <a:r>
              <a:rPr lang="en-US" sz="900" i="1" dirty="0">
                <a:solidFill>
                  <a:srgbClr val="2E5F84"/>
                </a:solidFill>
                <a:latin typeface="Segoe UI" pitchFamily="34" charset="0"/>
                <a:ea typeface="Segoe UI" pitchFamily="34" charset="-122"/>
                <a:cs typeface="Segoe UI" pitchFamily="34" charset="-120"/>
              </a:rPr>
              <a:t>LITERATURE GAP — no prior work is observability-conditioned + scheduler-wired + NEES-validated on one pipeline (Gupta&amp;Gao, ION NAVIGATION). That cell is ours.</a:t>
            </a:r>
            <a:endParaRPr lang="en-US" sz="900" dirty="0"/>
          </a:p>
        </p:txBody>
      </p:sp>
      <p:sp>
        <p:nvSpPr>
          <p:cNvPr id="24" name="Shape 22"/>
          <p:cNvSpPr/>
          <p:nvPr/>
        </p:nvSpPr>
        <p:spPr>
          <a:xfrm>
            <a:off x="5486400" y="1737360"/>
            <a:ext cx="6172200" cy="2870581"/>
          </a:xfrm>
          <a:prstGeom prst="rect">
            <a:avLst/>
          </a:prstGeom>
          <a:solidFill>
            <a:srgbClr val="FFFFFF"/>
          </a:solidFill>
          <a:ln w="12700">
            <a:solidFill>
              <a:srgbClr val="D7DDE2"/>
            </a:solidFill>
            <a:prstDash val="solid"/>
          </a:ln>
        </p:spPr>
      </p:sp>
      <p:pic>
        <p:nvPicPr>
          <p:cNvPr id="25" name="Image 0" descr="D:/Work/AETHER/docs/figures/ib_coverage.png">    </p:cNvPr>
          <p:cNvPicPr>
            <a:picLocks noChangeAspect="1"/>
          </p:cNvPicPr>
          <p:nvPr/>
        </p:nvPicPr>
        <p:blipFill>
          <a:blip r:embed="rId1"/>
          <a:stretch>
            <a:fillRect/>
          </a:stretch>
        </p:blipFill>
        <p:spPr>
          <a:xfrm>
            <a:off x="5532120" y="1783080"/>
            <a:ext cx="6080760" cy="2779141"/>
          </a:xfrm>
          <a:prstGeom prst="rect">
            <a:avLst/>
          </a:prstGeom>
        </p:spPr>
      </p:pic>
      <p:sp>
        <p:nvSpPr>
          <p:cNvPr id="26" name="Text 23"/>
          <p:cNvSpPr/>
          <p:nvPr/>
        </p:nvSpPr>
        <p:spPr>
          <a:xfrm>
            <a:off x="5532120" y="4598797"/>
            <a:ext cx="6080760" cy="182880"/>
          </a:xfrm>
          <a:prstGeom prst="rect">
            <a:avLst/>
          </a:prstGeom>
          <a:noFill/>
          <a:ln/>
        </p:spPr>
        <p:txBody>
          <a:bodyPr wrap="square" lIns="0" tIns="0" rIns="0" bIns="0" rtlCol="0" anchor="ctr"/>
          <a:lstStyle/>
          <a:p>
            <a:pPr algn="ctr" indent="0" marL="0">
              <a:buNone/>
            </a:pPr>
            <a:r>
              <a:rPr lang="en-US" sz="750" dirty="0">
                <a:solidFill>
                  <a:srgbClr val="7E8A93"/>
                </a:solidFill>
                <a:latin typeface="Consolas" pitchFamily="34" charset="0"/>
                <a:ea typeface="Consolas" pitchFamily="34" charset="-122"/>
                <a:cs typeface="Consolas" pitchFamily="34" charset="-120"/>
              </a:rPr>
              <a:t>Fig. — dual-bound coverage: the true error stays inside the operational PL (k=2.45)</a:t>
            </a:r>
            <a:endParaRPr lang="en-US" sz="750" dirty="0"/>
          </a:p>
        </p:txBody>
      </p:sp>
      <p:sp>
        <p:nvSpPr>
          <p:cNvPr id="27" name="Text 24"/>
          <p:cNvSpPr/>
          <p:nvPr/>
        </p:nvSpPr>
        <p:spPr>
          <a:xfrm>
            <a:off x="5532120" y="4892040"/>
            <a:ext cx="6080760" cy="548640"/>
          </a:xfrm>
          <a:prstGeom prst="rect">
            <a:avLst/>
          </a:prstGeom>
          <a:noFill/>
          <a:ln/>
        </p:spPr>
        <p:txBody>
          <a:bodyPr wrap="square" lIns="0" tIns="0" rIns="0" bIns="0" rtlCol="0" anchor="ctr"/>
          <a:lstStyle/>
          <a:p>
            <a:pPr indent="0" marL="0">
              <a:lnSpc>
                <a:spcPts val="1300"/>
              </a:lnSpc>
              <a:buNone/>
            </a:pPr>
            <a:r>
              <a:rPr lang="en-US" sz="950" dirty="0">
                <a:solidFill>
                  <a:srgbClr val="1B2A36"/>
                </a:solidFill>
                <a:latin typeface="Consolas" pitchFamily="34" charset="0"/>
                <a:ea typeface="Consolas" pitchFamily="34" charset="-122"/>
                <a:cs typeface="Consolas" pitchFamily="34" charset="-120"/>
              </a:rPr>
              <a:t>ONE WORKED NUMBER:  IB ≈ 1.31 m bound covers a true error ≈ 0.3 m  (λ_md = 45.0, k_ffd = 6.74, scipy-verified)</a:t>
            </a:r>
            <a:endParaRPr lang="en-US" sz="950" dirty="0"/>
          </a:p>
        </p:txBody>
      </p:sp>
      <p:sp>
        <p:nvSpPr>
          <p:cNvPr id="28" name="Shape 25"/>
          <p:cNvSpPr/>
          <p:nvPr/>
        </p:nvSpPr>
        <p:spPr>
          <a:xfrm>
            <a:off x="502920" y="6400800"/>
            <a:ext cx="11183112" cy="0"/>
          </a:xfrm>
          <a:prstGeom prst="line">
            <a:avLst/>
          </a:prstGeom>
          <a:noFill/>
          <a:ln w="9525">
            <a:solidFill>
              <a:srgbClr val="D7DDE2"/>
            </a:solidFill>
            <a:prstDash val="solid"/>
          </a:ln>
        </p:spPr>
      </p:sp>
      <p:sp>
        <p:nvSpPr>
          <p:cNvPr id="29" name="Text 26"/>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6/10</a:t>
            </a:r>
            <a:endParaRPr lang="en-US" sz="800" dirty="0"/>
          </a:p>
        </p:txBody>
      </p:sp>
      <p:sp>
        <p:nvSpPr>
          <p:cNvPr id="30" name="Text 27"/>
          <p:cNvSpPr/>
          <p:nvPr/>
        </p:nvSpPr>
        <p:spPr>
          <a:xfrm>
            <a:off x="6400800" y="6437376"/>
            <a:ext cx="5285232" cy="237744"/>
          </a:xfrm>
          <a:prstGeom prst="rect">
            <a:avLst/>
          </a:prstGeom>
          <a:noFill/>
          <a:ln/>
        </p:spPr>
        <p:txBody>
          <a:bodyPr wrap="square" lIns="0" tIns="0" rIns="0" bIns="0" rtlCol="0" anchor="ctr"/>
          <a:lstStyle/>
          <a:p>
            <a:pPr algn="r" indent="0" marL="0">
              <a:buNone/>
            </a:pPr>
            <a:r>
              <a:rPr lang="en-US" sz="800" spc="100" kern="0" dirty="0">
                <a:solidFill>
                  <a:srgbClr val="7E8A93"/>
                </a:solidFill>
                <a:latin typeface="Consolas" pitchFamily="34" charset="0"/>
                <a:ea typeface="Consolas" pitchFamily="34" charset="-122"/>
                <a:cs typeface="Consolas" pitchFamily="34" charset="-120"/>
              </a:rPr>
              <a:t>FIGURES: SYNTHETIC VALIDATION RIG — ILLUSTRATIVE / TARGET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561320" y="384048"/>
            <a:ext cx="914400" cy="658368"/>
          </a:xfrm>
          <a:prstGeom prst="ellipse">
            <a:avLst/>
          </a:prstGeom>
          <a:solidFill>
            <a:srgbClr val="C42A1C">
              <a:alpha val="0"/>
            </a:srgbClr>
          </a:solidFill>
          <a:ln w="19050">
            <a:solidFill>
              <a:srgbClr val="C42A1C"/>
            </a:solidFill>
            <a:prstDash val="solid"/>
          </a:ln>
        </p:spPr>
      </p:sp>
      <p:sp>
        <p:nvSpPr>
          <p:cNvPr id="12" name="Shape 10"/>
          <p:cNvSpPr/>
          <p:nvPr/>
        </p:nvSpPr>
        <p:spPr>
          <a:xfrm>
            <a:off x="10716768" y="493776"/>
            <a:ext cx="603504" cy="438912"/>
          </a:xfrm>
          <a:prstGeom prst="ellipse">
            <a:avLst/>
          </a:prstGeom>
          <a:solidFill>
            <a:srgbClr val="2E5F84">
              <a:alpha val="0"/>
            </a:srgbClr>
          </a:solidFill>
          <a:ln w="12700">
            <a:solidFill>
              <a:srgbClr val="2E5F84"/>
            </a:solidFill>
            <a:prstDash val="solid"/>
          </a:ln>
        </p:spPr>
      </p:sp>
      <p:sp>
        <p:nvSpPr>
          <p:cNvPr id="13" name="Shape 11"/>
          <p:cNvSpPr/>
          <p:nvPr/>
        </p:nvSpPr>
        <p:spPr>
          <a:xfrm>
            <a:off x="11050524" y="653796"/>
            <a:ext cx="64008" cy="64008"/>
          </a:xfrm>
          <a:prstGeom prst="ellipse">
            <a:avLst/>
          </a:prstGeom>
          <a:solidFill>
            <a:srgbClr val="C42A1C"/>
          </a:solidFill>
          <a:ln/>
        </p:spPr>
      </p:sp>
      <p:sp>
        <p:nvSpPr>
          <p:cNvPr id="14" name="Text 12"/>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5" name="Text 13"/>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3 · INNOVATIVENESS · SHEET 07/10</a:t>
            </a:r>
            <a:endParaRPr lang="en-US" sz="900" dirty="0"/>
          </a:p>
        </p:txBody>
      </p:sp>
      <p:sp>
        <p:nvSpPr>
          <p:cNvPr id="16" name="Text 14"/>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Kill the camera — watch the bound breathe</a:t>
            </a:r>
            <a:endParaRPr lang="en-US" sz="2400" dirty="0"/>
          </a:p>
        </p:txBody>
      </p:sp>
      <p:sp>
        <p:nvSpPr>
          <p:cNvPr id="17" name="Shape 15"/>
          <p:cNvSpPr/>
          <p:nvPr/>
        </p:nvSpPr>
        <p:spPr>
          <a:xfrm>
            <a:off x="612648" y="1700784"/>
            <a:ext cx="91440" cy="91440"/>
          </a:xfrm>
          <a:prstGeom prst="ellipse">
            <a:avLst/>
          </a:prstGeom>
          <a:solidFill>
            <a:srgbClr val="2F7D4F"/>
          </a:solidFill>
          <a:ln/>
        </p:spPr>
      </p:sp>
      <p:sp>
        <p:nvSpPr>
          <p:cNvPr id="18" name="Text 16"/>
          <p:cNvSpPr/>
          <p:nvPr/>
        </p:nvSpPr>
        <p:spPr>
          <a:xfrm>
            <a:off x="841248" y="1627632"/>
            <a:ext cx="4663440" cy="274320"/>
          </a:xfrm>
          <a:prstGeom prst="rect">
            <a:avLst/>
          </a:prstGeom>
          <a:noFill/>
          <a:ln/>
        </p:spPr>
        <p:txBody>
          <a:bodyPr wrap="square" lIns="0" tIns="0" rIns="0" bIns="0" rtlCol="0" anchor="ctr"/>
          <a:lstStyle/>
          <a:p>
            <a:pPr indent="0" marL="0">
              <a:buNone/>
            </a:pPr>
            <a:r>
              <a:rPr lang="en-US" sz="950" b="1" dirty="0">
                <a:solidFill>
                  <a:srgbClr val="2F7D4F"/>
                </a:solidFill>
                <a:latin typeface="Consolas" pitchFamily="34" charset="0"/>
                <a:ea typeface="Consolas" pitchFamily="34" charset="-122"/>
                <a:cs typeface="Consolas" pitchFamily="34" charset="-120"/>
              </a:rPr>
              <a:t>0–8 s   </a:t>
            </a:r>
            <a:pPr indent="0" marL="0">
              <a:buNone/>
            </a:pPr>
            <a:r>
              <a:rPr lang="en-US" sz="950" dirty="0">
                <a:solidFill>
                  <a:srgbClr val="1B2A36"/>
                </a:solidFill>
                <a:latin typeface="Consolas" pitchFamily="34" charset="0"/>
                <a:ea typeface="Consolas" pitchFamily="34" charset="-122"/>
                <a:cs typeface="Consolas" pitchFamily="34" charset="-120"/>
              </a:rPr>
              <a:t>NOMINAL · trust GREEN · drift &lt; 1.5%</a:t>
            </a:r>
            <a:endParaRPr lang="en-US" sz="950" dirty="0"/>
          </a:p>
        </p:txBody>
      </p:sp>
      <p:sp>
        <p:nvSpPr>
          <p:cNvPr id="19" name="Shape 17"/>
          <p:cNvSpPr/>
          <p:nvPr/>
        </p:nvSpPr>
        <p:spPr>
          <a:xfrm>
            <a:off x="612648" y="2029968"/>
            <a:ext cx="91440" cy="91440"/>
          </a:xfrm>
          <a:prstGeom prst="ellipse">
            <a:avLst/>
          </a:prstGeom>
          <a:solidFill>
            <a:srgbClr val="C42A1C"/>
          </a:solidFill>
          <a:ln/>
        </p:spPr>
      </p:sp>
      <p:sp>
        <p:nvSpPr>
          <p:cNvPr id="20" name="Text 18"/>
          <p:cNvSpPr/>
          <p:nvPr/>
        </p:nvSpPr>
        <p:spPr>
          <a:xfrm>
            <a:off x="841248" y="1956816"/>
            <a:ext cx="4663440" cy="274320"/>
          </a:xfrm>
          <a:prstGeom prst="rect">
            <a:avLst/>
          </a:prstGeom>
          <a:noFill/>
          <a:ln/>
        </p:spPr>
        <p:txBody>
          <a:bodyPr wrap="square" lIns="0" tIns="0" rIns="0" bIns="0" rtlCol="0" anchor="ctr"/>
          <a:lstStyle/>
          <a:p>
            <a:pPr indent="0" marL="0">
              <a:buNone/>
            </a:pPr>
            <a:r>
              <a:rPr lang="en-US" sz="950" b="1" dirty="0">
                <a:solidFill>
                  <a:srgbClr val="C42A1C"/>
                </a:solidFill>
                <a:latin typeface="Consolas" pitchFamily="34" charset="0"/>
                <a:ea typeface="Consolas" pitchFamily="34" charset="-122"/>
                <a:cs typeface="Consolas" pitchFamily="34" charset="-120"/>
              </a:rPr>
              <a:t>8 s   </a:t>
            </a:r>
            <a:pPr indent="0" marL="0">
              <a:buNone/>
            </a:pPr>
            <a:r>
              <a:rPr lang="en-US" sz="950" dirty="0">
                <a:solidFill>
                  <a:srgbClr val="1B2A36"/>
                </a:solidFill>
                <a:latin typeface="Consolas" pitchFamily="34" charset="0"/>
                <a:ea typeface="Consolas" pitchFamily="34" charset="-122"/>
                <a:cs typeface="Consolas" pitchFamily="34" charset="-120"/>
              </a:rPr>
              <a:t>FAULT · camera black · stock VIO starts to lie</a:t>
            </a:r>
            <a:endParaRPr lang="en-US" sz="950" dirty="0"/>
          </a:p>
        </p:txBody>
      </p:sp>
      <p:sp>
        <p:nvSpPr>
          <p:cNvPr id="21" name="Shape 19"/>
          <p:cNvSpPr/>
          <p:nvPr/>
        </p:nvSpPr>
        <p:spPr>
          <a:xfrm>
            <a:off x="612648" y="2359152"/>
            <a:ext cx="91440" cy="91440"/>
          </a:xfrm>
          <a:prstGeom prst="ellipse">
            <a:avLst/>
          </a:prstGeom>
          <a:solidFill>
            <a:srgbClr val="C98A12"/>
          </a:solidFill>
          <a:ln/>
        </p:spPr>
      </p:sp>
      <p:sp>
        <p:nvSpPr>
          <p:cNvPr id="22" name="Text 20"/>
          <p:cNvSpPr/>
          <p:nvPr/>
        </p:nvSpPr>
        <p:spPr>
          <a:xfrm>
            <a:off x="841248" y="2286000"/>
            <a:ext cx="4663440" cy="274320"/>
          </a:xfrm>
          <a:prstGeom prst="rect">
            <a:avLst/>
          </a:prstGeom>
          <a:noFill/>
          <a:ln/>
        </p:spPr>
        <p:txBody>
          <a:bodyPr wrap="square" lIns="0" tIns="0" rIns="0" bIns="0" rtlCol="0" anchor="ctr"/>
          <a:lstStyle/>
          <a:p>
            <a:pPr indent="0" marL="0">
              <a:buNone/>
            </a:pPr>
            <a:r>
              <a:rPr lang="en-US" sz="950" b="1" dirty="0">
                <a:solidFill>
                  <a:srgbClr val="C98A12"/>
                </a:solidFill>
                <a:latin typeface="Consolas" pitchFamily="34" charset="0"/>
                <a:ea typeface="Consolas" pitchFamily="34" charset="-122"/>
                <a:cs typeface="Consolas" pitchFamily="34" charset="-120"/>
              </a:rPr>
              <a:t>8–9 s   </a:t>
            </a:r>
            <a:pPr indent="0" marL="0">
              <a:buNone/>
            </a:pPr>
            <a:r>
              <a:rPr lang="en-US" sz="950" dirty="0">
                <a:solidFill>
                  <a:srgbClr val="1B2A36"/>
                </a:solidFill>
                <a:latin typeface="Consolas" pitchFamily="34" charset="0"/>
                <a:ea typeface="Consolas" pitchFamily="34" charset="-122"/>
                <a:cs typeface="Consolas" pitchFamily="34" charset="-120"/>
              </a:rPr>
              <a:t>TRUST RED in &lt; 0.5 s · degrade to inertial</a:t>
            </a:r>
            <a:endParaRPr lang="en-US" sz="950" dirty="0"/>
          </a:p>
        </p:txBody>
      </p:sp>
      <p:sp>
        <p:nvSpPr>
          <p:cNvPr id="23" name="Shape 21"/>
          <p:cNvSpPr/>
          <p:nvPr/>
        </p:nvSpPr>
        <p:spPr>
          <a:xfrm>
            <a:off x="612648" y="2688336"/>
            <a:ext cx="91440" cy="91440"/>
          </a:xfrm>
          <a:prstGeom prst="ellipse">
            <a:avLst/>
          </a:prstGeom>
          <a:solidFill>
            <a:srgbClr val="C42A1C"/>
          </a:solidFill>
          <a:ln/>
        </p:spPr>
      </p:sp>
      <p:sp>
        <p:nvSpPr>
          <p:cNvPr id="24" name="Text 22"/>
          <p:cNvSpPr/>
          <p:nvPr/>
        </p:nvSpPr>
        <p:spPr>
          <a:xfrm>
            <a:off x="841248" y="2615184"/>
            <a:ext cx="4663440" cy="274320"/>
          </a:xfrm>
          <a:prstGeom prst="rect">
            <a:avLst/>
          </a:prstGeom>
          <a:noFill/>
          <a:ln/>
        </p:spPr>
        <p:txBody>
          <a:bodyPr wrap="square" lIns="0" tIns="0" rIns="0" bIns="0" rtlCol="0" anchor="ctr"/>
          <a:lstStyle/>
          <a:p>
            <a:pPr indent="0" marL="0">
              <a:buNone/>
            </a:pPr>
            <a:r>
              <a:rPr lang="en-US" sz="950" b="1" dirty="0">
                <a:solidFill>
                  <a:srgbClr val="C42A1C"/>
                </a:solidFill>
                <a:latin typeface="Consolas" pitchFamily="34" charset="0"/>
                <a:ea typeface="Consolas" pitchFamily="34" charset="-122"/>
                <a:cs typeface="Consolas" pitchFamily="34" charset="-120"/>
              </a:rPr>
              <a:t>9–28 s   </a:t>
            </a:r>
            <a:pPr indent="0" marL="0">
              <a:buNone/>
            </a:pPr>
            <a:r>
              <a:rPr lang="en-US" sz="950" dirty="0">
                <a:solidFill>
                  <a:srgbClr val="1B2A36"/>
                </a:solidFill>
                <a:latin typeface="Consolas" pitchFamily="34" charset="0"/>
                <a:ea typeface="Consolas" pitchFamily="34" charset="-122"/>
                <a:cs typeface="Consolas" pitchFamily="34" charset="-120"/>
              </a:rPr>
              <a:t>bound BLOOMS ~1.0 m, contains the moving truth</a:t>
            </a:r>
            <a:endParaRPr lang="en-US" sz="950" dirty="0"/>
          </a:p>
        </p:txBody>
      </p:sp>
      <p:sp>
        <p:nvSpPr>
          <p:cNvPr id="25" name="Shape 23"/>
          <p:cNvSpPr/>
          <p:nvPr/>
        </p:nvSpPr>
        <p:spPr>
          <a:xfrm>
            <a:off x="612648" y="3017520"/>
            <a:ext cx="91440" cy="91440"/>
          </a:xfrm>
          <a:prstGeom prst="ellipse">
            <a:avLst/>
          </a:prstGeom>
          <a:solidFill>
            <a:srgbClr val="2F7D4F"/>
          </a:solidFill>
          <a:ln/>
        </p:spPr>
      </p:sp>
      <p:sp>
        <p:nvSpPr>
          <p:cNvPr id="26" name="Text 24"/>
          <p:cNvSpPr/>
          <p:nvPr/>
        </p:nvSpPr>
        <p:spPr>
          <a:xfrm>
            <a:off x="841248" y="2944368"/>
            <a:ext cx="4663440" cy="274320"/>
          </a:xfrm>
          <a:prstGeom prst="rect">
            <a:avLst/>
          </a:prstGeom>
          <a:noFill/>
          <a:ln/>
        </p:spPr>
        <p:txBody>
          <a:bodyPr wrap="square" lIns="0" tIns="0" rIns="0" bIns="0" rtlCol="0" anchor="ctr"/>
          <a:lstStyle/>
          <a:p>
            <a:pPr indent="0" marL="0">
              <a:buNone/>
            </a:pPr>
            <a:r>
              <a:rPr lang="en-US" sz="950" b="1" dirty="0">
                <a:solidFill>
                  <a:srgbClr val="2F7D4F"/>
                </a:solidFill>
                <a:latin typeface="Consolas" pitchFamily="34" charset="0"/>
                <a:ea typeface="Consolas" pitchFamily="34" charset="-122"/>
                <a:cs typeface="Consolas" pitchFamily="34" charset="-120"/>
              </a:rPr>
              <a:t>28–32 s   </a:t>
            </a:r>
            <a:pPr indent="0" marL="0">
              <a:buNone/>
            </a:pPr>
            <a:r>
              <a:rPr lang="en-US" sz="950" dirty="0">
                <a:solidFill>
                  <a:srgbClr val="1B2A36"/>
                </a:solidFill>
                <a:latin typeface="Consolas" pitchFamily="34" charset="0"/>
                <a:ea typeface="Consolas" pitchFamily="34" charset="-122"/>
                <a:cs typeface="Consolas" pitchFamily="34" charset="-120"/>
              </a:rPr>
              <a:t>vision back · re-converge · trust GREEN</a:t>
            </a:r>
            <a:endParaRPr lang="en-US" sz="950" dirty="0"/>
          </a:p>
        </p:txBody>
      </p:sp>
      <p:sp>
        <p:nvSpPr>
          <p:cNvPr id="27" name="Text 25"/>
          <p:cNvSpPr/>
          <p:nvPr/>
        </p:nvSpPr>
        <p:spPr>
          <a:xfrm>
            <a:off x="548640" y="3429000"/>
            <a:ext cx="493776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GRACEFUL DEGRADATION (Honeywell DNA)</a:t>
            </a:r>
            <a:endParaRPr lang="en-US" sz="950" dirty="0"/>
          </a:p>
        </p:txBody>
      </p:sp>
      <p:sp>
        <p:nvSpPr>
          <p:cNvPr id="28" name="Text 26"/>
          <p:cNvSpPr/>
          <p:nvPr/>
        </p:nvSpPr>
        <p:spPr>
          <a:xfrm>
            <a:off x="548640" y="3666744"/>
            <a:ext cx="4937760" cy="85953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On vision loss we dead-reckon on the IMU with bounded, characterized error: an 8 s outage on a Honeywell HG4930-class IMU ≈ 0.4 m (vs ~6.3 m consumer), cross-checked to physics ±20%.</a:t>
            </a:r>
            <a:endParaRPr lang="en-US" sz="1000" dirty="0"/>
          </a:p>
        </p:txBody>
      </p:sp>
      <p:sp>
        <p:nvSpPr>
          <p:cNvPr id="29" name="Text 27"/>
          <p:cNvSpPr/>
          <p:nvPr/>
        </p:nvSpPr>
        <p:spPr>
          <a:xfrm>
            <a:off x="548640" y="4617720"/>
            <a:ext cx="4937760" cy="640080"/>
          </a:xfrm>
          <a:prstGeom prst="rect">
            <a:avLst/>
          </a:prstGeom>
          <a:noFill/>
          <a:ln/>
        </p:spPr>
        <p:txBody>
          <a:bodyPr wrap="square" lIns="0" tIns="0" rIns="0" bIns="0" rtlCol="0" anchor="ctr"/>
          <a:lstStyle/>
          <a:p>
            <a:pPr indent="0" marL="0">
              <a:lnSpc>
                <a:spcPts val="1250"/>
              </a:lnSpc>
              <a:buNone/>
            </a:pPr>
            <a:r>
              <a:rPr lang="en-US" sz="950" i="1" dirty="0">
                <a:solidFill>
                  <a:srgbClr val="2E5F84"/>
                </a:solidFill>
                <a:latin typeface="Segoe UI" pitchFamily="34" charset="0"/>
                <a:ea typeface="Segoe UI" pitchFamily="34" charset="-122"/>
                <a:cs typeface="Segoe UI" pitchFamily="34" charset="-120"/>
              </a:rPr>
              <a:t>THREE-RUNG SAFETY LADDER:  live → rosbag-replay → backup video. The integrity layer runs on EuRoC even if the sim wobbles.</a:t>
            </a:r>
            <a:endParaRPr lang="en-US" sz="950" dirty="0"/>
          </a:p>
        </p:txBody>
      </p:sp>
      <p:sp>
        <p:nvSpPr>
          <p:cNvPr id="30" name="Shape 28"/>
          <p:cNvSpPr/>
          <p:nvPr/>
        </p:nvSpPr>
        <p:spPr>
          <a:xfrm>
            <a:off x="5943600" y="1828800"/>
            <a:ext cx="5486400" cy="3327769"/>
          </a:xfrm>
          <a:prstGeom prst="rect">
            <a:avLst/>
          </a:prstGeom>
          <a:solidFill>
            <a:srgbClr val="FFFFFF"/>
          </a:solidFill>
          <a:ln w="12700">
            <a:solidFill>
              <a:srgbClr val="D7DDE2"/>
            </a:solidFill>
            <a:prstDash val="solid"/>
          </a:ln>
        </p:spPr>
      </p:sp>
      <p:pic>
        <p:nvPicPr>
          <p:cNvPr id="31" name="Image 0" descr="D:/Work/AETHER/docs/figures/breathing_ellipse.png">    </p:cNvPr>
          <p:cNvPicPr>
            <a:picLocks noChangeAspect="1"/>
          </p:cNvPicPr>
          <p:nvPr/>
        </p:nvPicPr>
        <p:blipFill>
          <a:blip r:embed="rId1"/>
          <a:stretch>
            <a:fillRect/>
          </a:stretch>
        </p:blipFill>
        <p:spPr>
          <a:xfrm>
            <a:off x="5989320" y="1874520"/>
            <a:ext cx="5394960" cy="3236329"/>
          </a:xfrm>
          <a:prstGeom prst="rect">
            <a:avLst/>
          </a:prstGeom>
        </p:spPr>
      </p:pic>
      <p:sp>
        <p:nvSpPr>
          <p:cNvPr id="32" name="Text 29"/>
          <p:cNvSpPr/>
          <p:nvPr/>
        </p:nvSpPr>
        <p:spPr>
          <a:xfrm>
            <a:off x="5989320" y="5147425"/>
            <a:ext cx="5394960" cy="182880"/>
          </a:xfrm>
          <a:prstGeom prst="rect">
            <a:avLst/>
          </a:prstGeom>
          <a:noFill/>
          <a:ln/>
        </p:spPr>
        <p:txBody>
          <a:bodyPr wrap="square" lIns="0" tIns="0" rIns="0" bIns="0" rtlCol="0" anchor="ctr"/>
          <a:lstStyle/>
          <a:p>
            <a:pPr algn="ctr" indent="0" marL="0">
              <a:buNone/>
            </a:pPr>
            <a:r>
              <a:rPr lang="en-US" sz="750" dirty="0">
                <a:solidFill>
                  <a:srgbClr val="7E8A93"/>
                </a:solidFill>
                <a:latin typeface="Consolas" pitchFamily="34" charset="0"/>
                <a:ea typeface="Consolas" pitchFamily="34" charset="-122"/>
                <a:cs typeface="Consolas" pitchFamily="34" charset="-120"/>
              </a:rPr>
              <a:t>Fig. — the integrity bound blooming to ~1.0 m, chasing &amp; containing the moving truth (t = 9 / 18 / 28 s)</a:t>
            </a:r>
            <a:endParaRPr lang="en-US" sz="750" dirty="0"/>
          </a:p>
        </p:txBody>
      </p:sp>
      <p:sp>
        <p:nvSpPr>
          <p:cNvPr id="33" name="Shape 30"/>
          <p:cNvSpPr/>
          <p:nvPr/>
        </p:nvSpPr>
        <p:spPr>
          <a:xfrm>
            <a:off x="502920" y="6400800"/>
            <a:ext cx="11183112" cy="0"/>
          </a:xfrm>
          <a:prstGeom prst="line">
            <a:avLst/>
          </a:prstGeom>
          <a:noFill/>
          <a:ln w="9525">
            <a:solidFill>
              <a:srgbClr val="D7DDE2"/>
            </a:solidFill>
            <a:prstDash val="solid"/>
          </a:ln>
        </p:spPr>
      </p:sp>
      <p:sp>
        <p:nvSpPr>
          <p:cNvPr id="34" name="Text 31"/>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7/10</a:t>
            </a:r>
            <a:endParaRPr lang="en-US" sz="800" dirty="0"/>
          </a:p>
        </p:txBody>
      </p:sp>
      <p:sp>
        <p:nvSpPr>
          <p:cNvPr id="35" name="Text 32"/>
          <p:cNvSpPr/>
          <p:nvPr/>
        </p:nvSpPr>
        <p:spPr>
          <a:xfrm>
            <a:off x="6400800" y="6437376"/>
            <a:ext cx="5285232" cy="237744"/>
          </a:xfrm>
          <a:prstGeom prst="rect">
            <a:avLst/>
          </a:prstGeom>
          <a:noFill/>
          <a:ln/>
        </p:spPr>
        <p:txBody>
          <a:bodyPr wrap="square" lIns="0" tIns="0" rIns="0" bIns="0" rtlCol="0" anchor="ctr"/>
          <a:lstStyle/>
          <a:p>
            <a:pPr algn="r" indent="0" marL="0">
              <a:buNone/>
            </a:pPr>
            <a:r>
              <a:rPr lang="en-US" sz="800" spc="100" kern="0" dirty="0">
                <a:solidFill>
                  <a:srgbClr val="7E8A93"/>
                </a:solidFill>
                <a:latin typeface="Consolas" pitchFamily="34" charset="0"/>
                <a:ea typeface="Consolas" pitchFamily="34" charset="-122"/>
                <a:cs typeface="Consolas" pitchFamily="34" charset="-120"/>
              </a:rPr>
              <a:t>FIGURES: SYNTHETIC VALIDATION RIG — ILLUSTRATIVE / TARGET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707624" y="493776"/>
            <a:ext cx="621792" cy="438912"/>
          </a:xfrm>
          <a:prstGeom prst="ellipse">
            <a:avLst/>
          </a:prstGeom>
          <a:solidFill>
            <a:srgbClr val="2E5F84">
              <a:alpha val="0"/>
            </a:srgbClr>
          </a:solidFill>
          <a:ln w="15875">
            <a:solidFill>
              <a:srgbClr val="2E5F84"/>
            </a:solidFill>
            <a:prstDash val="solid"/>
          </a:ln>
        </p:spPr>
      </p:sp>
      <p:sp>
        <p:nvSpPr>
          <p:cNvPr id="12" name="Shape 10"/>
          <p:cNvSpPr/>
          <p:nvPr/>
        </p:nvSpPr>
        <p:spPr>
          <a:xfrm>
            <a:off x="10981944" y="676656"/>
            <a:ext cx="73152" cy="73152"/>
          </a:xfrm>
          <a:prstGeom prst="ellipse">
            <a:avLst/>
          </a:prstGeom>
          <a:solidFill>
            <a:srgbClr val="2F7D4F"/>
          </a:solidFill>
          <a:ln/>
        </p:spPr>
      </p:sp>
      <p:sp>
        <p:nvSpPr>
          <p:cNvPr id="13" name="Text 11"/>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4" name="Text 12"/>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4 · IMPLEMENTATION DETAILS · SHEET 08/10</a:t>
            </a:r>
            <a:endParaRPr lang="en-US" sz="900" dirty="0"/>
          </a:p>
        </p:txBody>
      </p:sp>
      <p:sp>
        <p:nvSpPr>
          <p:cNvPr id="15" name="Text 13"/>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A real, public, partly-running repository</a:t>
            </a:r>
            <a:endParaRPr lang="en-US" sz="2400" dirty="0"/>
          </a:p>
        </p:txBody>
      </p:sp>
      <p:sp>
        <p:nvSpPr>
          <p:cNvPr id="16" name="Shape 14"/>
          <p:cNvSpPr/>
          <p:nvPr/>
        </p:nvSpPr>
        <p:spPr>
          <a:xfrm>
            <a:off x="502920" y="1572768"/>
            <a:ext cx="5029200" cy="502920"/>
          </a:xfrm>
          <a:prstGeom prst="rect">
            <a:avLst/>
          </a:prstGeom>
          <a:solidFill>
            <a:srgbClr val="1B2A36"/>
          </a:solidFill>
          <a:ln/>
        </p:spPr>
      </p:sp>
      <p:sp>
        <p:nvSpPr>
          <p:cNvPr id="17" name="Text 15"/>
          <p:cNvSpPr/>
          <p:nvPr/>
        </p:nvSpPr>
        <p:spPr>
          <a:xfrm>
            <a:off x="502920" y="1572768"/>
            <a:ext cx="50292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github.com/TheClazer/A.E.T.H.E.R</a:t>
            </a:r>
            <a:endParaRPr lang="en-US" sz="1300" dirty="0"/>
          </a:p>
        </p:txBody>
      </p:sp>
      <p:sp>
        <p:nvSpPr>
          <p:cNvPr id="18" name="Text 16"/>
          <p:cNvSpPr/>
          <p:nvPr/>
        </p:nvSpPr>
        <p:spPr>
          <a:xfrm>
            <a:off x="502920" y="2240280"/>
            <a:ext cx="502920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TECH STACK</a:t>
            </a:r>
            <a:endParaRPr lang="en-US" sz="950" dirty="0"/>
          </a:p>
        </p:txBody>
      </p:sp>
      <p:sp>
        <p:nvSpPr>
          <p:cNvPr id="19" name="Text 17"/>
          <p:cNvSpPr/>
          <p:nvPr/>
        </p:nvSpPr>
        <p:spPr>
          <a:xfrm>
            <a:off x="502920" y="2478024"/>
            <a:ext cx="5029200" cy="122529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ROS2 Humble · Gazebo Harmonic (gz-sim) + ros_gz · OpenVINS MSCKF (stereo-inertial VIO) · Python rclpy integrity layer · evo + ov_eval (ATE / segment-RPE / NEES) · EuRoC MAV dataset · scipy (audited k-factors) · Streamlit trust HUD · GitHub Actions CI.</a:t>
            </a:r>
            <a:endParaRPr lang="en-US" sz="1000" dirty="0"/>
          </a:p>
        </p:txBody>
      </p:sp>
      <p:sp>
        <p:nvSpPr>
          <p:cNvPr id="20" name="Text 18"/>
          <p:cNvSpPr/>
          <p:nvPr/>
        </p:nvSpPr>
        <p:spPr>
          <a:xfrm>
            <a:off x="502920" y="3794760"/>
            <a:ext cx="502920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WHAT'S IN THE REPO</a:t>
            </a:r>
            <a:endParaRPr lang="en-US" sz="950" dirty="0"/>
          </a:p>
        </p:txBody>
      </p:sp>
      <p:sp>
        <p:nvSpPr>
          <p:cNvPr id="21" name="Text 19"/>
          <p:cNvSpPr/>
          <p:nvPr/>
        </p:nvSpPr>
        <p:spPr>
          <a:xfrm>
            <a:off x="502920" y="4032504"/>
            <a:ext cx="5029200" cy="204825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src/ — aether_msgs (4 msgs + srv) + 5 ROS2 nodes (sensor_bridge, vio_core, integrity_monitor, degradation_manager, health_cockpit). sim/ — Gazebo Harmonic tunnel + primitive drone (stereo + HG4930-IMU + ground-truth publisher; no external mesh). offline_demo/ — the integrity core + a runnable validation rig. eval/ — KITTI drift, rosbag→TUM, figures. docs/ — bible (24 pp), manual-steps, this deck. CI lints + tests on every push.</a:t>
            </a:r>
            <a:endParaRPr lang="en-US" sz="1000" dirty="0"/>
          </a:p>
        </p:txBody>
      </p:sp>
      <p:sp>
        <p:nvSpPr>
          <p:cNvPr id="22" name="Shape 20"/>
          <p:cNvSpPr/>
          <p:nvPr/>
        </p:nvSpPr>
        <p:spPr>
          <a:xfrm>
            <a:off x="5852160" y="1572768"/>
            <a:ext cx="5760720" cy="2331720"/>
          </a:xfrm>
          <a:prstGeom prst="rect">
            <a:avLst/>
          </a:prstGeom>
          <a:solidFill>
            <a:srgbClr val="E7F0E9"/>
          </a:solidFill>
          <a:ln w="15875">
            <a:solidFill>
              <a:srgbClr val="2F7D4F"/>
            </a:solidFill>
            <a:prstDash val="solid"/>
          </a:ln>
        </p:spPr>
      </p:sp>
      <p:sp>
        <p:nvSpPr>
          <p:cNvPr id="23" name="Text 21"/>
          <p:cNvSpPr/>
          <p:nvPr/>
        </p:nvSpPr>
        <p:spPr>
          <a:xfrm>
            <a:off x="6053328" y="1700784"/>
            <a:ext cx="5394960" cy="274320"/>
          </a:xfrm>
          <a:prstGeom prst="rect">
            <a:avLst/>
          </a:prstGeom>
          <a:noFill/>
          <a:ln/>
        </p:spPr>
        <p:txBody>
          <a:bodyPr wrap="square" lIns="0" tIns="0" rIns="0" bIns="0" rtlCol="0" anchor="ctr"/>
          <a:lstStyle/>
          <a:p>
            <a:pPr indent="0" marL="0">
              <a:buNone/>
            </a:pPr>
            <a:r>
              <a:rPr lang="en-US" sz="1000" b="1" spc="100" kern="0" dirty="0">
                <a:solidFill>
                  <a:srgbClr val="2F7D4F"/>
                </a:solidFill>
                <a:latin typeface="Consolas" pitchFamily="34" charset="0"/>
                <a:ea typeface="Consolas" pitchFamily="34" charset="-122"/>
                <a:cs typeface="Consolas" pitchFamily="34" charset="-120"/>
              </a:rPr>
              <a:t>VERIFIED RUNNING — MEASURED, NOT PROJECTED</a:t>
            </a:r>
            <a:endParaRPr lang="en-US" sz="1000" dirty="0"/>
          </a:p>
        </p:txBody>
      </p:sp>
      <p:sp>
        <p:nvSpPr>
          <p:cNvPr id="24" name="Text 22"/>
          <p:cNvSpPr/>
          <p:nvPr/>
        </p:nvSpPr>
        <p:spPr>
          <a:xfrm>
            <a:off x="6053328" y="2029968"/>
            <a:ext cx="5440680" cy="1783080"/>
          </a:xfrm>
          <a:prstGeom prst="rect">
            <a:avLst/>
          </a:prstGeom>
          <a:noFill/>
          <a:ln/>
        </p:spPr>
        <p:txBody>
          <a:bodyPr wrap="square" lIns="0" tIns="0" rIns="0" bIns="0" rtlCol="0" anchor="ctr"/>
          <a:lstStyle/>
          <a:p>
            <a:pPr indent="0" marL="0">
              <a:lnSpc>
                <a:spcPts val="1500"/>
              </a:lnSpc>
              <a:buNone/>
            </a:pPr>
            <a:r>
              <a:rPr lang="en-US" sz="1000" dirty="0">
                <a:solidFill>
                  <a:srgbClr val="1B2A36"/>
                </a:solidFill>
                <a:latin typeface="Consolas" pitchFamily="34" charset="0"/>
                <a:ea typeface="Consolas" pitchFamily="34" charset="-122"/>
                <a:cs typeface="Consolas" pitchFamily="34" charset="-120"/>
              </a:rPr>
              <a:t>LIVE ROS2 integrity stack (Ubuntu 26.04/Lyrical)
</a:t>
            </a:r>
            <a:endParaRPr lang="en-US" sz="1000" dirty="0"/>
          </a:p>
          <a:p>
            <a:pPr indent="0" marL="0">
              <a:lnSpc>
                <a:spcPts val="1500"/>
              </a:lnSpc>
              <a:buNone/>
            </a:pPr>
            <a:r>
              <a:rPr lang="en-US" sz="1000" dirty="0">
                <a:solidFill>
                  <a:srgbClr val="2E5F84"/>
                </a:solidFill>
                <a:latin typeface="Consolas" pitchFamily="34" charset="0"/>
                <a:ea typeface="Consolas" pitchFamily="34" charset="-122"/>
                <a:cs typeface="Consolas" pitchFamily="34" charset="-120"/>
              </a:rPr>
              <a:t>  coverage 97.6% · ANEES 3.05 · detect 1.18 s
</a:t>
            </a:r>
            <a:endParaRPr lang="en-US" sz="1000" dirty="0"/>
          </a:p>
          <a:p>
            <a:pPr indent="0" marL="0">
              <a:lnSpc>
                <a:spcPts val="1500"/>
              </a:lnSpc>
              <a:buNone/>
            </a:pPr>
            <a:r>
              <a:rPr lang="en-US" sz="1000" dirty="0">
                <a:solidFill>
                  <a:srgbClr val="1B2A36"/>
                </a:solidFill>
                <a:latin typeface="Consolas" pitchFamily="34" charset="0"/>
                <a:ea typeface="Consolas" pitchFamily="34" charset="-122"/>
                <a:cs typeface="Consolas" pitchFamily="34" charset="-120"/>
              </a:rPr>
              <a:t>Gazebo X3 multicopter, 200 m tunnel flight
</a:t>
            </a:r>
            <a:endParaRPr lang="en-US" sz="1000" dirty="0"/>
          </a:p>
          <a:p>
            <a:pPr indent="0" marL="0">
              <a:lnSpc>
                <a:spcPts val="1500"/>
              </a:lnSpc>
              <a:buNone/>
            </a:pPr>
            <a:r>
              <a:rPr lang="en-US" sz="1000" dirty="0">
                <a:solidFill>
                  <a:srgbClr val="2E5F84"/>
                </a:solidFill>
                <a:latin typeface="Consolas" pitchFamily="34" charset="0"/>
                <a:ea typeface="Consolas" pitchFamily="34" charset="-122"/>
                <a:cs typeface="Consolas" pitchFamily="34" charset="-120"/>
              </a:rPr>
              <a:t>  x→199.8 m · centered ±0.58 m · IMU alive (σ .287)
</a:t>
            </a:r>
            <a:endParaRPr lang="en-US" sz="1000" dirty="0"/>
          </a:p>
          <a:p>
            <a:pPr indent="0" marL="0">
              <a:lnSpc>
                <a:spcPts val="1500"/>
              </a:lnSpc>
              <a:buNone/>
            </a:pPr>
            <a:r>
              <a:rPr lang="en-US" sz="1000" dirty="0">
                <a:solidFill>
                  <a:srgbClr val="1B2A36"/>
                </a:solidFill>
                <a:latin typeface="Consolas" pitchFamily="34" charset="0"/>
                <a:ea typeface="Consolas" pitchFamily="34" charset="-122"/>
                <a:cs typeface="Consolas" pitchFamily="34" charset="-120"/>
              </a:rPr>
              <a:t>OpenVINS MSCKF on OUR sim (jazzy container)
</a:t>
            </a:r>
            <a:endParaRPr lang="en-US" sz="1000" dirty="0"/>
          </a:p>
          <a:p>
            <a:pPr indent="0" marL="0">
              <a:lnSpc>
                <a:spcPts val="1500"/>
              </a:lnSpc>
              <a:buNone/>
            </a:pPr>
            <a:r>
              <a:rPr lang="en-US" sz="1000" b="1" dirty="0">
                <a:solidFill>
                  <a:srgbClr val="2F7D4F"/>
                </a:solidFill>
                <a:latin typeface="Consolas" pitchFamily="34" charset="0"/>
                <a:ea typeface="Consolas" pitchFamily="34" charset="-122"/>
                <a:cs typeface="Consolas" pitchFamily="34" charset="-120"/>
              </a:rPr>
              <a:t>  0.219% drift / 202 m — DP7 &lt;1.5% beaten 6.8×</a:t>
            </a:r>
            <a:endParaRPr lang="en-US" sz="1000" dirty="0"/>
          </a:p>
        </p:txBody>
      </p:sp>
      <p:sp>
        <p:nvSpPr>
          <p:cNvPr id="25" name="Text 23"/>
          <p:cNvSpPr/>
          <p:nvPr/>
        </p:nvSpPr>
        <p:spPr>
          <a:xfrm>
            <a:off x="5852160" y="4069080"/>
            <a:ext cx="5760720" cy="237744"/>
          </a:xfrm>
          <a:prstGeom prst="rect">
            <a:avLst/>
          </a:prstGeom>
          <a:noFill/>
          <a:ln/>
        </p:spPr>
        <p:txBody>
          <a:bodyPr wrap="square" lIns="0" tIns="0" rIns="0" bIns="0" rtlCol="0" anchor="ctr"/>
          <a:lstStyle/>
          <a:p>
            <a:pPr indent="0" marL="0">
              <a:buNone/>
            </a:pPr>
            <a:r>
              <a:rPr lang="en-US" sz="950" b="1" spc="100" kern="0" dirty="0">
                <a:solidFill>
                  <a:srgbClr val="2E5F84"/>
                </a:solidFill>
                <a:latin typeface="Consolas" pitchFamily="34" charset="0"/>
                <a:ea typeface="Consolas" pitchFamily="34" charset="-122"/>
                <a:cs typeface="Consolas" pitchFamily="34" charset="-120"/>
              </a:rPr>
              <a:t>THE FULL CHAIN, END-TO-END</a:t>
            </a:r>
            <a:endParaRPr lang="en-US" sz="950" dirty="0"/>
          </a:p>
        </p:txBody>
      </p:sp>
      <p:sp>
        <p:nvSpPr>
          <p:cNvPr id="26" name="Text 24"/>
          <p:cNvSpPr/>
          <p:nvPr/>
        </p:nvSpPr>
        <p:spPr>
          <a:xfrm>
            <a:off x="5852160" y="4306824"/>
            <a:ext cx="5760720" cy="1773936"/>
          </a:xfrm>
          <a:prstGeom prst="rect">
            <a:avLst/>
          </a:prstGeom>
          <a:noFill/>
          <a:ln/>
        </p:spPr>
        <p:txBody>
          <a:bodyPr wrap="square" lIns="0" tIns="0" rIns="0" bIns="0" rtlCol="0" anchor="t"/>
          <a:lstStyle/>
          <a:p>
            <a:pPr indent="0" marL="0">
              <a:lnSpc>
                <a:spcPts val="1350"/>
              </a:lnSpc>
              <a:buNone/>
            </a:pPr>
            <a:r>
              <a:rPr lang="en-US" sz="1000" dirty="0">
                <a:solidFill>
                  <a:srgbClr val="1B2A36"/>
                </a:solidFill>
                <a:latin typeface="Segoe UI" pitchFamily="34" charset="0"/>
                <a:ea typeface="Segoe UI" pitchFamily="34" charset="-122"/>
                <a:cs typeface="Segoe UI" pitchFamily="34" charset="-120"/>
              </a:rPr>
              <a:t>Gazebo Harmonic renders the stereo tunnel flight (physics-real rotor forces, HG4930-class IMU); ros_gz records the golden bag; the pinned ros:jazzy container replays it through OpenVINS ov_msckf; eval/compute_drift.py (time-synced, SE(3)-aligned) scores it against simulator ground truth; and the SAME integrity nodes that run the live demo run against the real VIO output (docker compose run chain). CI rebuilds the whole workspace on ros:jazzy at every push.</a:t>
            </a:r>
            <a:endParaRPr lang="en-US" sz="1000" dirty="0"/>
          </a:p>
        </p:txBody>
      </p:sp>
      <p:sp>
        <p:nvSpPr>
          <p:cNvPr id="27" name="Shape 25"/>
          <p:cNvSpPr/>
          <p:nvPr/>
        </p:nvSpPr>
        <p:spPr>
          <a:xfrm>
            <a:off x="502920" y="6400800"/>
            <a:ext cx="11183112" cy="0"/>
          </a:xfrm>
          <a:prstGeom prst="line">
            <a:avLst/>
          </a:prstGeom>
          <a:noFill/>
          <a:ln w="9525">
            <a:solidFill>
              <a:srgbClr val="D7DDE2"/>
            </a:solidFill>
            <a:prstDash val="solid"/>
          </a:ln>
        </p:spPr>
      </p:sp>
      <p:sp>
        <p:nvSpPr>
          <p:cNvPr id="28" name="Text 26"/>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8/10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597896" y="420624"/>
            <a:ext cx="841248" cy="585216"/>
          </a:xfrm>
          <a:prstGeom prst="ellipse">
            <a:avLst/>
          </a:prstGeom>
          <a:solidFill>
            <a:srgbClr val="2E5F84">
              <a:alpha val="0"/>
            </a:srgbClr>
          </a:solidFill>
          <a:ln w="9525">
            <a:solidFill>
              <a:srgbClr val="2E5F84"/>
            </a:solidFill>
            <a:prstDash val="dash"/>
          </a:ln>
        </p:spPr>
      </p:sp>
      <p:sp>
        <p:nvSpPr>
          <p:cNvPr id="12" name="Shape 10"/>
          <p:cNvSpPr/>
          <p:nvPr/>
        </p:nvSpPr>
        <p:spPr>
          <a:xfrm>
            <a:off x="10744200" y="521208"/>
            <a:ext cx="548640" cy="384048"/>
          </a:xfrm>
          <a:prstGeom prst="ellipse">
            <a:avLst/>
          </a:prstGeom>
          <a:solidFill>
            <a:srgbClr val="2E5F84">
              <a:alpha val="0"/>
            </a:srgbClr>
          </a:solidFill>
          <a:ln w="19050">
            <a:solidFill>
              <a:srgbClr val="2E5F84"/>
            </a:solidFill>
            <a:prstDash val="solid"/>
          </a:ln>
        </p:spPr>
      </p:sp>
      <p:sp>
        <p:nvSpPr>
          <p:cNvPr id="13" name="Shape 11"/>
          <p:cNvSpPr/>
          <p:nvPr/>
        </p:nvSpPr>
        <p:spPr>
          <a:xfrm>
            <a:off x="11041380" y="681228"/>
            <a:ext cx="64008" cy="64008"/>
          </a:xfrm>
          <a:prstGeom prst="ellipse">
            <a:avLst/>
          </a:prstGeom>
          <a:solidFill>
            <a:srgbClr val="C42A1C"/>
          </a:solidFill>
          <a:ln/>
        </p:spPr>
      </p:sp>
      <p:sp>
        <p:nvSpPr>
          <p:cNvPr id="14" name="Text 12"/>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5" name="Text 13"/>
          <p:cNvSpPr/>
          <p:nvPr/>
        </p:nvSpPr>
        <p:spPr>
          <a:xfrm>
            <a:off x="502920" y="457200"/>
            <a:ext cx="96012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CRITERION 4 · IMPLEMENTATION DETAILS · SHEET 09/10</a:t>
            </a:r>
            <a:endParaRPr lang="en-US" sz="900" dirty="0"/>
          </a:p>
        </p:txBody>
      </p:sp>
      <p:sp>
        <p:nvSpPr>
          <p:cNvPr id="16" name="Text 14"/>
          <p:cNvSpPr/>
          <p:nvPr/>
        </p:nvSpPr>
        <p:spPr>
          <a:xfrm>
            <a:off x="484632" y="713232"/>
            <a:ext cx="9692640" cy="457200"/>
          </a:xfrm>
          <a:prstGeom prst="rect">
            <a:avLst/>
          </a:prstGeom>
          <a:noFill/>
          <a:ln/>
        </p:spPr>
        <p:txBody>
          <a:bodyPr wrap="square" lIns="0" tIns="0" rIns="0" bIns="0" rtlCol="0" anchor="ctr"/>
          <a:lstStyle/>
          <a:p>
            <a:pPr indent="0" marL="0">
              <a:buNone/>
            </a:pPr>
            <a:r>
              <a:rPr lang="en-US" sz="2400" b="1" dirty="0">
                <a:solidFill>
                  <a:srgbClr val="1B2A36"/>
                </a:solidFill>
                <a:latin typeface="Georgia" pitchFamily="34" charset="0"/>
                <a:ea typeface="Georgia" pitchFamily="34" charset="-122"/>
                <a:cs typeface="Georgia" pitchFamily="34" charset="-120"/>
              </a:rPr>
              <a:t>Results from the validation rig (the math, proven)</a:t>
            </a:r>
            <a:endParaRPr lang="en-US" sz="2400" dirty="0"/>
          </a:p>
        </p:txBody>
      </p:sp>
      <p:sp>
        <p:nvSpPr>
          <p:cNvPr id="17" name="Shape 15"/>
          <p:cNvSpPr/>
          <p:nvPr/>
        </p:nvSpPr>
        <p:spPr>
          <a:xfrm>
            <a:off x="502920" y="1600200"/>
            <a:ext cx="5440680" cy="2536248"/>
          </a:xfrm>
          <a:prstGeom prst="rect">
            <a:avLst/>
          </a:prstGeom>
          <a:solidFill>
            <a:srgbClr val="FFFFFF"/>
          </a:solidFill>
          <a:ln w="12700">
            <a:solidFill>
              <a:srgbClr val="D7DDE2"/>
            </a:solidFill>
            <a:prstDash val="solid"/>
          </a:ln>
        </p:spPr>
      </p:sp>
      <p:pic>
        <p:nvPicPr>
          <p:cNvPr id="18" name="Image 0" descr="D:/Work/AETHER/docs/figures/nees_band.png">    </p:cNvPr>
          <p:cNvPicPr>
            <a:picLocks noChangeAspect="1"/>
          </p:cNvPicPr>
          <p:nvPr/>
        </p:nvPicPr>
        <p:blipFill>
          <a:blip r:embed="rId1"/>
          <a:stretch>
            <a:fillRect/>
          </a:stretch>
        </p:blipFill>
        <p:spPr>
          <a:xfrm>
            <a:off x="548640" y="1645920"/>
            <a:ext cx="5349240" cy="2444808"/>
          </a:xfrm>
          <a:prstGeom prst="rect">
            <a:avLst/>
          </a:prstGeom>
        </p:spPr>
      </p:pic>
      <p:sp>
        <p:nvSpPr>
          <p:cNvPr id="19" name="Text 16"/>
          <p:cNvSpPr/>
          <p:nvPr/>
        </p:nvSpPr>
        <p:spPr>
          <a:xfrm>
            <a:off x="548640" y="4127304"/>
            <a:ext cx="5349240" cy="182880"/>
          </a:xfrm>
          <a:prstGeom prst="rect">
            <a:avLst/>
          </a:prstGeom>
          <a:noFill/>
          <a:ln/>
        </p:spPr>
        <p:txBody>
          <a:bodyPr wrap="square" lIns="0" tIns="0" rIns="0" bIns="0" rtlCol="0" anchor="ctr"/>
          <a:lstStyle/>
          <a:p>
            <a:pPr algn="ctr" indent="0" marL="0">
              <a:buNone/>
            </a:pPr>
            <a:r>
              <a:rPr lang="en-US" sz="750" dirty="0">
                <a:solidFill>
                  <a:srgbClr val="7E8A93"/>
                </a:solidFill>
                <a:latin typeface="Consolas" pitchFamily="34" charset="0"/>
                <a:ea typeface="Consolas" pitchFamily="34" charset="-122"/>
                <a:cs typeface="Consolas" pitchFamily="34" charset="-120"/>
              </a:rPr>
              <a:t>Fig. — NEES inside the χ²₃ 95% gate: the bound is statistically honest</a:t>
            </a:r>
            <a:endParaRPr lang="en-US" sz="750" dirty="0"/>
          </a:p>
        </p:txBody>
      </p:sp>
      <p:sp>
        <p:nvSpPr>
          <p:cNvPr id="20" name="Shape 17"/>
          <p:cNvSpPr/>
          <p:nvPr/>
        </p:nvSpPr>
        <p:spPr>
          <a:xfrm>
            <a:off x="6080760" y="1600200"/>
            <a:ext cx="5440680" cy="2536248"/>
          </a:xfrm>
          <a:prstGeom prst="rect">
            <a:avLst/>
          </a:prstGeom>
          <a:solidFill>
            <a:srgbClr val="FFFFFF"/>
          </a:solidFill>
          <a:ln w="12700">
            <a:solidFill>
              <a:srgbClr val="D7DDE2"/>
            </a:solidFill>
            <a:prstDash val="solid"/>
          </a:ln>
        </p:spPr>
      </p:sp>
      <p:pic>
        <p:nvPicPr>
          <p:cNvPr id="21" name="Image 1" descr="D:/Work/AETHER/docs/figures/ib_coverage.png">    </p:cNvPr>
          <p:cNvPicPr>
            <a:picLocks noChangeAspect="1"/>
          </p:cNvPicPr>
          <p:nvPr/>
        </p:nvPicPr>
        <p:blipFill>
          <a:blip r:embed="rId2"/>
          <a:stretch>
            <a:fillRect/>
          </a:stretch>
        </p:blipFill>
        <p:spPr>
          <a:xfrm>
            <a:off x="6126480" y="1645920"/>
            <a:ext cx="5349240" cy="2444808"/>
          </a:xfrm>
          <a:prstGeom prst="rect">
            <a:avLst/>
          </a:prstGeom>
        </p:spPr>
      </p:pic>
      <p:sp>
        <p:nvSpPr>
          <p:cNvPr id="22" name="Text 18"/>
          <p:cNvSpPr/>
          <p:nvPr/>
        </p:nvSpPr>
        <p:spPr>
          <a:xfrm>
            <a:off x="6126480" y="4127304"/>
            <a:ext cx="5349240" cy="182880"/>
          </a:xfrm>
          <a:prstGeom prst="rect">
            <a:avLst/>
          </a:prstGeom>
          <a:noFill/>
          <a:ln/>
        </p:spPr>
        <p:txBody>
          <a:bodyPr wrap="square" lIns="0" tIns="0" rIns="0" bIns="0" rtlCol="0" anchor="ctr"/>
          <a:lstStyle/>
          <a:p>
            <a:pPr algn="ctr" indent="0" marL="0">
              <a:buNone/>
            </a:pPr>
            <a:r>
              <a:rPr lang="en-US" sz="750" dirty="0">
                <a:solidFill>
                  <a:srgbClr val="7E8A93"/>
                </a:solidFill>
                <a:latin typeface="Consolas" pitchFamily="34" charset="0"/>
                <a:ea typeface="Consolas" pitchFamily="34" charset="-122"/>
                <a:cs typeface="Consolas" pitchFamily="34" charset="-120"/>
              </a:rPr>
              <a:t>Fig. — true error stays inside the operational protection level</a:t>
            </a:r>
            <a:endParaRPr lang="en-US" sz="7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2926080"/>
                <a:gridCol w="2743200"/>
                <a:gridCol w="2286000"/>
                <a:gridCol w="3108960"/>
              </a:tblGrid>
              <a:tr h="274320">
                <a:tc>
                  <a:txBody>
                    <a:bodyPr/>
                    <a:lstStyle/>
                    <a:p>
                      <a:pPr indent="0" marL="0">
                        <a:buNone/>
                      </a:pPr>
                      <a:r>
                        <a:rPr lang="en-US" sz="950" b="1" dirty="0">
                          <a:solidFill>
                            <a:srgbClr val="FFFFFF"/>
                          </a:solidFill>
                          <a:latin typeface="Segoe UI" pitchFamily="34" charset="0"/>
                          <a:ea typeface="Segoe UI" pitchFamily="34" charset="-122"/>
                          <a:cs typeface="Segoe UI" pitchFamily="34" charset="-120"/>
                        </a:rPr>
                        <a:t>METRIC</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1B2A36"/>
                    </a:solidFill>
                  </a:tcPr>
                </a:tc>
                <a:tc>
                  <a:txBody>
                    <a:bodyPr/>
                    <a:lstStyle/>
                    <a:p>
                      <a:pPr indent="0" marL="0">
                        <a:buNone/>
                      </a:pPr>
                      <a:r>
                        <a:rPr lang="en-US" sz="950" b="1" dirty="0">
                          <a:solidFill>
                            <a:srgbClr val="FFFFFF"/>
                          </a:solidFill>
                          <a:latin typeface="Segoe UI" pitchFamily="34" charset="0"/>
                          <a:ea typeface="Segoe UI" pitchFamily="34" charset="-122"/>
                          <a:cs typeface="Segoe UI" pitchFamily="34" charset="-120"/>
                        </a:rPr>
                        <a:t>TARGET / DESIGN</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1B2A36"/>
                    </a:solidFill>
                  </a:tcPr>
                </a:tc>
                <a:tc>
                  <a:txBody>
                    <a:bodyPr/>
                    <a:lstStyle/>
                    <a:p>
                      <a:pPr indent="0" marL="0">
                        <a:buNone/>
                      </a:pPr>
                      <a:r>
                        <a:rPr lang="en-US" sz="950" b="1" dirty="0">
                          <a:solidFill>
                            <a:srgbClr val="FFFFFF"/>
                          </a:solidFill>
                          <a:latin typeface="Segoe UI" pitchFamily="34" charset="0"/>
                          <a:ea typeface="Segoe UI" pitchFamily="34" charset="-122"/>
                          <a:cs typeface="Segoe UI" pitchFamily="34" charset="-120"/>
                        </a:rPr>
                        <a:t>MEASURED</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1B2A36"/>
                    </a:solidFill>
                  </a:tcPr>
                </a:tc>
                <a:tc>
                  <a:txBody>
                    <a:bodyPr/>
                    <a:lstStyle/>
                    <a:p>
                      <a:pPr indent="0" marL="0">
                        <a:buNone/>
                      </a:pPr>
                      <a:r>
                        <a:rPr lang="en-US" sz="950" b="1" dirty="0">
                          <a:solidFill>
                            <a:srgbClr val="FFFFFF"/>
                          </a:solidFill>
                          <a:latin typeface="Segoe UI" pitchFamily="34" charset="0"/>
                          <a:ea typeface="Segoe UI" pitchFamily="34" charset="-122"/>
                          <a:cs typeface="Segoe UI" pitchFamily="34" charset="-120"/>
                        </a:rPr>
                        <a:t>HONEYWELL ANALOGUE</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1B2A36"/>
                    </a:solidFill>
                  </a:tcPr>
                </a:tc>
              </a:tr>
              <a:tr h="384048">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IB coverage @ k=2.45 (live ROS2)</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 95%</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97.6% (emergent)</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GNSS RAIM HPL/VPL</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fault-detection latency (live ROS2)</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&lt; 1.5 s</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1.18 s</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integrity / health monitor</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B2A36"/>
                          </a:solidFill>
                          <a:latin typeface="Segoe UI" pitchFamily="34" charset="0"/>
                          <a:ea typeface="Segoe UI" pitchFamily="34" charset="-122"/>
                          <a:cs typeface="Segoe UI" pitchFamily="34" charset="-120"/>
                        </a:rPr>
                        <a:t>translational drift — OpenVINS on OUR Gazebo flight</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&lt; 1.5% / 200 m</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b="1" dirty="0">
                          <a:solidFill>
                            <a:srgbClr val="2F7D4F"/>
                          </a:solidFill>
                          <a:latin typeface="Segoe UI" pitchFamily="34" charset="0"/>
                          <a:ea typeface="Segoe UI" pitchFamily="34" charset="-122"/>
                          <a:cs typeface="Segoe UI" pitchFamily="34" charset="-120"/>
                        </a:rPr>
                        <a:t>0.219% / 202.2 m</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bounded / known error</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filter consistency (ANEES, live)</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 3 (χ²₃)</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3.05</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c>
                  <a:txBody>
                    <a:bodyPr/>
                    <a:lstStyle/>
                    <a:p>
                      <a:pPr indent="0" marL="0">
                        <a:buNone/>
                      </a:pPr>
                      <a:r>
                        <a:rPr lang="en-US" sz="950" dirty="0">
                          <a:solidFill>
                            <a:srgbClr val="1B2A36"/>
                          </a:solidFill>
                          <a:latin typeface="Segoe UI" pitchFamily="34" charset="0"/>
                          <a:ea typeface="Segoe UI" pitchFamily="34" charset="-122"/>
                          <a:cs typeface="Segoe UI" pitchFamily="34" charset="-120"/>
                        </a:rPr>
                        <a:t>honest covariance</a:t>
                      </a:r>
                      <a:endParaRPr lang="en-US" sz="950" dirty="0">
                        <a:latin typeface="Segoe UI" charset="0"/>
                        <a:ea typeface="Segoe UI" charset="0"/>
                        <a:cs typeface="Segoe UI" charset="0"/>
                      </a:endParaRPr>
                    </a:p>
                  </a:txBody>
                  <a:tcPr marL="76200" marR="76200" marT="25400" marB="25400" anchor="ctr">
                    <a:lnL w="9525" cap="flat" cmpd="sng" algn="ctr">
                      <a:solidFill>
                        <a:srgbClr val="D7DDE2"/>
                      </a:solidFill>
                      <a:prstDash val="solid"/>
                      <a:round/>
                      <a:headEnd type="none" w="med" len="med"/>
                      <a:tailEnd type="none" w="med" len="med"/>
                    </a:lnL>
                    <a:lnR w="9525" cap="flat" cmpd="sng" algn="ctr">
                      <a:solidFill>
                        <a:srgbClr val="D7DDE2"/>
                      </a:solidFill>
                      <a:prstDash val="solid"/>
                      <a:round/>
                      <a:headEnd type="none" w="med" len="med"/>
                      <a:tailEnd type="none" w="med" len="med"/>
                    </a:lnR>
                    <a:lnT w="9525" cap="flat" cmpd="sng" algn="ctr">
                      <a:solidFill>
                        <a:srgbClr val="D7DDE2"/>
                      </a:solidFill>
                      <a:prstDash val="solid"/>
                      <a:round/>
                      <a:headEnd type="none" w="med" len="med"/>
                      <a:tailEnd type="none" w="med" len="med"/>
                    </a:lnT>
                    <a:lnB w="9525" cap="flat" cmpd="sng" algn="ctr">
                      <a:solidFill>
                        <a:srgbClr val="D7DDE2"/>
                      </a:solidFill>
                      <a:prstDash val="solid"/>
                      <a:round/>
                      <a:headEnd type="none" w="med" len="med"/>
                      <a:tailEnd type="none" w="med" len="med"/>
                    </a:lnB>
                    <a:solidFill>
                      <a:srgbClr val="FFFFFF"/>
                    </a:solidFill>
                  </a:tcPr>
                </a:tc>
              </a:tr>
            </a:tbl>
          </a:graphicData>
        </a:graphic>
      </p:graphicFrame>
      <p:sp>
        <p:nvSpPr>
          <p:cNvPr id="24" name="Shape 19"/>
          <p:cNvSpPr/>
          <p:nvPr/>
        </p:nvSpPr>
        <p:spPr>
          <a:xfrm>
            <a:off x="502920" y="6400800"/>
            <a:ext cx="11183112" cy="0"/>
          </a:xfrm>
          <a:prstGeom prst="line">
            <a:avLst/>
          </a:prstGeom>
          <a:noFill/>
          <a:ln w="9525">
            <a:solidFill>
              <a:srgbClr val="D7DDE2"/>
            </a:solidFill>
            <a:prstDash val="solid"/>
          </a:ln>
        </p:spPr>
      </p:sp>
      <p:sp>
        <p:nvSpPr>
          <p:cNvPr id="25" name="Text 20"/>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9/10</a:t>
            </a:r>
            <a:endParaRPr lang="en-US" sz="800" dirty="0"/>
          </a:p>
        </p:txBody>
      </p:sp>
      <p:sp>
        <p:nvSpPr>
          <p:cNvPr id="26" name="Text 21"/>
          <p:cNvSpPr/>
          <p:nvPr/>
        </p:nvSpPr>
        <p:spPr>
          <a:xfrm>
            <a:off x="6400800" y="6437376"/>
            <a:ext cx="5285232" cy="237744"/>
          </a:xfrm>
          <a:prstGeom prst="rect">
            <a:avLst/>
          </a:prstGeom>
          <a:noFill/>
          <a:ln/>
        </p:spPr>
        <p:txBody>
          <a:bodyPr wrap="square" lIns="0" tIns="0" rIns="0" bIns="0" rtlCol="0" anchor="ctr"/>
          <a:lstStyle/>
          <a:p>
            <a:pPr algn="r" indent="0" marL="0">
              <a:buNone/>
            </a:pPr>
            <a:r>
              <a:rPr lang="en-US" sz="800" spc="100" kern="0" dirty="0">
                <a:solidFill>
                  <a:srgbClr val="7E8A93"/>
                </a:solidFill>
                <a:latin typeface="Consolas" pitchFamily="34" charset="0"/>
                <a:ea typeface="Consolas" pitchFamily="34" charset="-122"/>
                <a:cs typeface="Consolas" pitchFamily="34" charset="-120"/>
              </a:rPr>
              <a:t>FIGURES: SYNTHETIC VALIDATION RIG — ILLUSTRATIVE / TARGET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solidFill>
            <a:srgbClr val="F7F6F2">
              <a:alpha val="0"/>
            </a:srgbClr>
          </a:solidFill>
          <a:ln w="9525">
            <a:solidFill>
              <a:srgbClr val="2E5F84"/>
            </a:solidFill>
            <a:prstDash val="solid"/>
          </a:ln>
        </p:spPr>
      </p:sp>
      <p:sp>
        <p:nvSpPr>
          <p:cNvPr id="3" name="Shape 1"/>
          <p:cNvSpPr/>
          <p:nvPr/>
        </p:nvSpPr>
        <p:spPr>
          <a:xfrm>
            <a:off x="256032" y="256032"/>
            <a:ext cx="146304" cy="0"/>
          </a:xfrm>
          <a:prstGeom prst="line">
            <a:avLst/>
          </a:prstGeom>
          <a:noFill/>
          <a:ln w="15875">
            <a:solidFill>
              <a:srgbClr val="2E5F84"/>
            </a:solidFill>
            <a:prstDash val="solid"/>
          </a:ln>
        </p:spPr>
      </p:sp>
      <p:sp>
        <p:nvSpPr>
          <p:cNvPr id="4" name="Shape 2"/>
          <p:cNvSpPr/>
          <p:nvPr/>
        </p:nvSpPr>
        <p:spPr>
          <a:xfrm>
            <a:off x="256032" y="256032"/>
            <a:ext cx="0" cy="146304"/>
          </a:xfrm>
          <a:prstGeom prst="line">
            <a:avLst/>
          </a:prstGeom>
          <a:noFill/>
          <a:ln w="15875">
            <a:solidFill>
              <a:srgbClr val="2E5F84"/>
            </a:solidFill>
            <a:prstDash val="solid"/>
          </a:ln>
        </p:spPr>
      </p:sp>
      <p:sp>
        <p:nvSpPr>
          <p:cNvPr id="5" name="Shape 3"/>
          <p:cNvSpPr/>
          <p:nvPr/>
        </p:nvSpPr>
        <p:spPr>
          <a:xfrm flipV="1">
            <a:off x="11789359" y="256032"/>
            <a:ext cx="146304" cy="0"/>
          </a:xfrm>
          <a:prstGeom prst="line">
            <a:avLst/>
          </a:prstGeom>
          <a:noFill/>
          <a:ln w="15875">
            <a:solidFill>
              <a:srgbClr val="2E5F84"/>
            </a:solidFill>
            <a:prstDash val="solid"/>
          </a:ln>
        </p:spPr>
      </p:sp>
      <p:sp>
        <p:nvSpPr>
          <p:cNvPr id="6" name="Shape 4"/>
          <p:cNvSpPr/>
          <p:nvPr/>
        </p:nvSpPr>
        <p:spPr>
          <a:xfrm>
            <a:off x="11935663" y="256032"/>
            <a:ext cx="0" cy="146304"/>
          </a:xfrm>
          <a:prstGeom prst="line">
            <a:avLst/>
          </a:prstGeom>
          <a:noFill/>
          <a:ln w="15875">
            <a:solidFill>
              <a:srgbClr val="2E5F84"/>
            </a:solidFill>
            <a:prstDash val="solid"/>
          </a:ln>
        </p:spPr>
      </p:sp>
      <p:sp>
        <p:nvSpPr>
          <p:cNvPr id="7" name="Shape 5"/>
          <p:cNvSpPr/>
          <p:nvPr/>
        </p:nvSpPr>
        <p:spPr>
          <a:xfrm>
            <a:off x="256032" y="6601968"/>
            <a:ext cx="146304" cy="0"/>
          </a:xfrm>
          <a:prstGeom prst="line">
            <a:avLst/>
          </a:prstGeom>
          <a:noFill/>
          <a:ln w="15875">
            <a:solidFill>
              <a:srgbClr val="2E5F84"/>
            </a:solidFill>
            <a:prstDash val="solid"/>
          </a:ln>
        </p:spPr>
      </p:sp>
      <p:sp>
        <p:nvSpPr>
          <p:cNvPr id="8" name="Shape 6"/>
          <p:cNvSpPr/>
          <p:nvPr/>
        </p:nvSpPr>
        <p:spPr>
          <a:xfrm flipV="1">
            <a:off x="256032" y="6455664"/>
            <a:ext cx="0" cy="146304"/>
          </a:xfrm>
          <a:prstGeom prst="line">
            <a:avLst/>
          </a:prstGeom>
          <a:noFill/>
          <a:ln w="15875">
            <a:solidFill>
              <a:srgbClr val="2E5F84"/>
            </a:solidFill>
            <a:prstDash val="solid"/>
          </a:ln>
        </p:spPr>
      </p:sp>
      <p:sp>
        <p:nvSpPr>
          <p:cNvPr id="9" name="Shape 7"/>
          <p:cNvSpPr/>
          <p:nvPr/>
        </p:nvSpPr>
        <p:spPr>
          <a:xfrm flipV="1">
            <a:off x="11789359" y="6601968"/>
            <a:ext cx="146304" cy="0"/>
          </a:xfrm>
          <a:prstGeom prst="line">
            <a:avLst/>
          </a:prstGeom>
          <a:noFill/>
          <a:ln w="15875">
            <a:solidFill>
              <a:srgbClr val="2E5F84"/>
            </a:solidFill>
            <a:prstDash val="solid"/>
          </a:ln>
        </p:spPr>
      </p:sp>
      <p:sp>
        <p:nvSpPr>
          <p:cNvPr id="10" name="Shape 8"/>
          <p:cNvSpPr/>
          <p:nvPr/>
        </p:nvSpPr>
        <p:spPr>
          <a:xfrm flipV="1">
            <a:off x="11935663" y="6455664"/>
            <a:ext cx="0" cy="146304"/>
          </a:xfrm>
          <a:prstGeom prst="line">
            <a:avLst/>
          </a:prstGeom>
          <a:noFill/>
          <a:ln w="15875">
            <a:solidFill>
              <a:srgbClr val="2E5F84"/>
            </a:solidFill>
            <a:prstDash val="solid"/>
          </a:ln>
        </p:spPr>
      </p:sp>
      <p:sp>
        <p:nvSpPr>
          <p:cNvPr id="11" name="Shape 9"/>
          <p:cNvSpPr/>
          <p:nvPr/>
        </p:nvSpPr>
        <p:spPr>
          <a:xfrm>
            <a:off x="10707624" y="493776"/>
            <a:ext cx="621792" cy="438912"/>
          </a:xfrm>
          <a:prstGeom prst="ellipse">
            <a:avLst/>
          </a:prstGeom>
          <a:solidFill>
            <a:srgbClr val="2E5F84">
              <a:alpha val="0"/>
            </a:srgbClr>
          </a:solidFill>
          <a:ln w="15875">
            <a:solidFill>
              <a:srgbClr val="2E5F84"/>
            </a:solidFill>
            <a:prstDash val="solid"/>
          </a:ln>
        </p:spPr>
      </p:sp>
      <p:sp>
        <p:nvSpPr>
          <p:cNvPr id="12" name="Shape 10"/>
          <p:cNvSpPr/>
          <p:nvPr/>
        </p:nvSpPr>
        <p:spPr>
          <a:xfrm>
            <a:off x="10981944" y="676656"/>
            <a:ext cx="73152" cy="73152"/>
          </a:xfrm>
          <a:prstGeom prst="ellipse">
            <a:avLst/>
          </a:prstGeom>
          <a:solidFill>
            <a:srgbClr val="2F7D4F"/>
          </a:solidFill>
          <a:ln/>
        </p:spPr>
      </p:sp>
      <p:sp>
        <p:nvSpPr>
          <p:cNvPr id="13" name="Text 11"/>
          <p:cNvSpPr/>
          <p:nvPr/>
        </p:nvSpPr>
        <p:spPr>
          <a:xfrm>
            <a:off x="10241280" y="1024128"/>
            <a:ext cx="1481328" cy="182880"/>
          </a:xfrm>
          <a:prstGeom prst="rect">
            <a:avLst/>
          </a:prstGeom>
          <a:noFill/>
          <a:ln/>
        </p:spPr>
        <p:txBody>
          <a:bodyPr wrap="square" lIns="0" tIns="0" rIns="0" bIns="0" rtlCol="0" anchor="ctr"/>
          <a:lstStyle/>
          <a:p>
            <a:pPr algn="ctr" indent="0" marL="0">
              <a:buNone/>
            </a:pPr>
            <a:r>
              <a:rPr lang="en-US" sz="650" dirty="0">
                <a:solidFill>
                  <a:srgbClr val="7E8A93"/>
                </a:solidFill>
                <a:latin typeface="Consolas" pitchFamily="34" charset="0"/>
                <a:ea typeface="Consolas" pitchFamily="34" charset="-122"/>
                <a:cs typeface="Consolas" pitchFamily="34" charset="-120"/>
              </a:rPr>
              <a:t>TRUTH ∈ BOUND</a:t>
            </a:r>
            <a:endParaRPr lang="en-US" sz="650" dirty="0"/>
          </a:p>
        </p:txBody>
      </p:sp>
      <p:sp>
        <p:nvSpPr>
          <p:cNvPr id="14" name="Text 12"/>
          <p:cNvSpPr/>
          <p:nvPr/>
        </p:nvSpPr>
        <p:spPr>
          <a:xfrm>
            <a:off x="502920" y="457200"/>
            <a:ext cx="9144000" cy="237744"/>
          </a:xfrm>
          <a:prstGeom prst="rect">
            <a:avLst/>
          </a:prstGeom>
          <a:noFill/>
          <a:ln/>
        </p:spPr>
        <p:txBody>
          <a:bodyPr wrap="square" lIns="0" tIns="0" rIns="0" bIns="0" rtlCol="0" anchor="ctr"/>
          <a:lstStyle/>
          <a:p>
            <a:pPr indent="0" marL="0">
              <a:buNone/>
            </a:pPr>
            <a:r>
              <a:rPr lang="en-US" sz="900" spc="150" kern="0" dirty="0">
                <a:solidFill>
                  <a:srgbClr val="2E5F84"/>
                </a:solidFill>
                <a:latin typeface="Consolas" pitchFamily="34" charset="0"/>
                <a:ea typeface="Consolas" pitchFamily="34" charset="-122"/>
                <a:cs typeface="Consolas" pitchFamily="34" charset="-120"/>
              </a:rPr>
              <a:t>A.E.T.H.E.R · DP7 · CLOSE · SHEET 10/10</a:t>
            </a:r>
            <a:endParaRPr lang="en-US" sz="900" dirty="0"/>
          </a:p>
        </p:txBody>
      </p:sp>
      <p:sp>
        <p:nvSpPr>
          <p:cNvPr id="15" name="Text 13"/>
          <p:cNvSpPr/>
          <p:nvPr/>
        </p:nvSpPr>
        <p:spPr>
          <a:xfrm>
            <a:off x="484632" y="868680"/>
            <a:ext cx="10972800" cy="822960"/>
          </a:xfrm>
          <a:prstGeom prst="rect">
            <a:avLst/>
          </a:prstGeom>
          <a:noFill/>
          <a:ln/>
        </p:spPr>
        <p:txBody>
          <a:bodyPr wrap="square" lIns="0" tIns="0" rIns="0" bIns="0" rtlCol="0" anchor="ctr"/>
          <a:lstStyle/>
          <a:p>
            <a:pPr indent="0" marL="0">
              <a:lnSpc>
                <a:spcPts val="3000"/>
              </a:lnSpc>
              <a:buNone/>
            </a:pPr>
            <a:r>
              <a:rPr lang="en-US" sz="2500" b="1" dirty="0">
                <a:solidFill>
                  <a:srgbClr val="1B2A36"/>
                </a:solidFill>
                <a:latin typeface="Georgia" pitchFamily="34" charset="0"/>
                <a:ea typeface="Georgia" pitchFamily="34" charset="-122"/>
                <a:cs typeface="Georgia" pitchFamily="34" charset="-120"/>
              </a:rPr>
              <a:t>We didn't just localize — we built the layer that knows when it can't be trusted</a:t>
            </a:r>
            <a:endParaRPr lang="en-US" sz="2500" dirty="0"/>
          </a:p>
        </p:txBody>
      </p:sp>
      <p:sp>
        <p:nvSpPr>
          <p:cNvPr id="16" name="Shape 14"/>
          <p:cNvSpPr/>
          <p:nvPr/>
        </p:nvSpPr>
        <p:spPr>
          <a:xfrm>
            <a:off x="9372600" y="822960"/>
            <a:ext cx="1005840" cy="731520"/>
          </a:xfrm>
          <a:prstGeom prst="ellipse">
            <a:avLst/>
          </a:prstGeom>
          <a:solidFill>
            <a:srgbClr val="2E5F84">
              <a:alpha val="0"/>
            </a:srgbClr>
          </a:solidFill>
          <a:ln w="19050">
            <a:solidFill>
              <a:srgbClr val="2E5F84"/>
            </a:solidFill>
            <a:prstDash val="solid"/>
          </a:ln>
        </p:spPr>
      </p:sp>
      <p:sp>
        <p:nvSpPr>
          <p:cNvPr id="17" name="Shape 15"/>
          <p:cNvSpPr/>
          <p:nvPr/>
        </p:nvSpPr>
        <p:spPr>
          <a:xfrm>
            <a:off x="10012680" y="1069848"/>
            <a:ext cx="91440" cy="91440"/>
          </a:xfrm>
          <a:prstGeom prst="ellipse">
            <a:avLst/>
          </a:prstGeom>
          <a:solidFill>
            <a:srgbClr val="C42A1C"/>
          </a:solidFill>
          <a:ln/>
        </p:spPr>
      </p:sp>
      <p:sp>
        <p:nvSpPr>
          <p:cNvPr id="18" name="Shape 16"/>
          <p:cNvSpPr/>
          <p:nvPr/>
        </p:nvSpPr>
        <p:spPr>
          <a:xfrm>
            <a:off x="548640" y="1965960"/>
            <a:ext cx="384048" cy="384048"/>
          </a:xfrm>
          <a:prstGeom prst="rect">
            <a:avLst/>
          </a:prstGeom>
          <a:solidFill>
            <a:srgbClr val="F7F6F2"/>
          </a:solidFill>
          <a:ln w="15875">
            <a:solidFill>
              <a:srgbClr val="C42A1C"/>
            </a:solidFill>
            <a:prstDash val="solid"/>
          </a:ln>
        </p:spPr>
      </p:sp>
      <p:sp>
        <p:nvSpPr>
          <p:cNvPr id="19" name="Text 17"/>
          <p:cNvSpPr/>
          <p:nvPr/>
        </p:nvSpPr>
        <p:spPr>
          <a:xfrm>
            <a:off x="548640" y="1965960"/>
            <a:ext cx="384048" cy="384048"/>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①</a:t>
            </a:r>
            <a:endParaRPr lang="en-US" sz="1500" dirty="0"/>
          </a:p>
        </p:txBody>
      </p:sp>
      <p:sp>
        <p:nvSpPr>
          <p:cNvPr id="20" name="Text 18"/>
          <p:cNvSpPr/>
          <p:nvPr/>
        </p:nvSpPr>
        <p:spPr>
          <a:xfrm>
            <a:off x="1051560" y="1984248"/>
            <a:ext cx="2377440" cy="347472"/>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PROBLEM</a:t>
            </a:r>
            <a:endParaRPr lang="en-US" sz="1200" dirty="0"/>
          </a:p>
        </p:txBody>
      </p:sp>
      <p:sp>
        <p:nvSpPr>
          <p:cNvPr id="21" name="Text 19"/>
          <p:cNvSpPr/>
          <p:nvPr/>
        </p:nvSpPr>
        <p:spPr>
          <a:xfrm>
            <a:off x="3383280" y="1984248"/>
            <a:ext cx="8229600" cy="347472"/>
          </a:xfrm>
          <a:prstGeom prst="rect">
            <a:avLst/>
          </a:prstGeom>
          <a:noFill/>
          <a:ln/>
        </p:spPr>
        <p:txBody>
          <a:bodyPr wrap="square" lIns="0" tIns="0" rIns="0" bIns="0" rtlCol="0" anchor="ctr"/>
          <a:lstStyle/>
          <a:p>
            <a:pPr indent="0" marL="0">
              <a:buNone/>
            </a:pPr>
            <a:r>
              <a:rPr lang="en-US" sz="1050" dirty="0">
                <a:solidFill>
                  <a:srgbClr val="2E5F84"/>
                </a:solidFill>
                <a:latin typeface="Segoe UI" pitchFamily="34" charset="0"/>
                <a:ea typeface="Segoe UI" pitchFamily="34" charset="-122"/>
                <a:cs typeface="Segoe UI" pitchFamily="34" charset="-120"/>
              </a:rPr>
              <a:t>DP7 = Assured-PNT; 6 failure modes → a bound for each</a:t>
            </a:r>
            <a:endParaRPr lang="en-US" sz="1050" dirty="0"/>
          </a:p>
        </p:txBody>
      </p:sp>
      <p:sp>
        <p:nvSpPr>
          <p:cNvPr id="22" name="Shape 20"/>
          <p:cNvSpPr/>
          <p:nvPr/>
        </p:nvSpPr>
        <p:spPr>
          <a:xfrm>
            <a:off x="548640" y="2569464"/>
            <a:ext cx="384048" cy="384048"/>
          </a:xfrm>
          <a:prstGeom prst="rect">
            <a:avLst/>
          </a:prstGeom>
          <a:solidFill>
            <a:srgbClr val="F7F6F2"/>
          </a:solidFill>
          <a:ln w="15875">
            <a:solidFill>
              <a:srgbClr val="C42A1C"/>
            </a:solidFill>
            <a:prstDash val="solid"/>
          </a:ln>
        </p:spPr>
      </p:sp>
      <p:sp>
        <p:nvSpPr>
          <p:cNvPr id="23" name="Text 21"/>
          <p:cNvSpPr/>
          <p:nvPr/>
        </p:nvSpPr>
        <p:spPr>
          <a:xfrm>
            <a:off x="548640" y="2569464"/>
            <a:ext cx="384048" cy="384048"/>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②</a:t>
            </a:r>
            <a:endParaRPr lang="en-US" sz="1500" dirty="0"/>
          </a:p>
        </p:txBody>
      </p:sp>
      <p:sp>
        <p:nvSpPr>
          <p:cNvPr id="24" name="Text 22"/>
          <p:cNvSpPr/>
          <p:nvPr/>
        </p:nvSpPr>
        <p:spPr>
          <a:xfrm>
            <a:off x="1051560" y="2587752"/>
            <a:ext cx="2377440" cy="347472"/>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APPROACH</a:t>
            </a:r>
            <a:endParaRPr lang="en-US" sz="1200" dirty="0"/>
          </a:p>
        </p:txBody>
      </p:sp>
      <p:sp>
        <p:nvSpPr>
          <p:cNvPr id="25" name="Text 23"/>
          <p:cNvSpPr/>
          <p:nvPr/>
        </p:nvSpPr>
        <p:spPr>
          <a:xfrm>
            <a:off x="3383280" y="2587752"/>
            <a:ext cx="8229600" cy="347472"/>
          </a:xfrm>
          <a:prstGeom prst="rect">
            <a:avLst/>
          </a:prstGeom>
          <a:noFill/>
          <a:ln/>
        </p:spPr>
        <p:txBody>
          <a:bodyPr wrap="square" lIns="0" tIns="0" rIns="0" bIns="0" rtlCol="0" anchor="ctr"/>
          <a:lstStyle/>
          <a:p>
            <a:pPr indent="0" marL="0">
              <a:buNone/>
            </a:pPr>
            <a:r>
              <a:rPr lang="en-US" sz="1050" dirty="0">
                <a:solidFill>
                  <a:srgbClr val="2E5F84"/>
                </a:solidFill>
                <a:latin typeface="Segoe UI" pitchFamily="34" charset="0"/>
                <a:ea typeface="Segoe UI" pitchFamily="34" charset="-122"/>
                <a:cs typeface="Segoe UI" pitchFamily="34" charset="-120"/>
              </a:rPr>
              <a:t>5-node graph, any subset runs; floor locked Day 2</a:t>
            </a:r>
            <a:endParaRPr lang="en-US" sz="1050" dirty="0"/>
          </a:p>
        </p:txBody>
      </p:sp>
      <p:sp>
        <p:nvSpPr>
          <p:cNvPr id="26" name="Shape 24"/>
          <p:cNvSpPr/>
          <p:nvPr/>
        </p:nvSpPr>
        <p:spPr>
          <a:xfrm>
            <a:off x="548640" y="3172968"/>
            <a:ext cx="384048" cy="384048"/>
          </a:xfrm>
          <a:prstGeom prst="rect">
            <a:avLst/>
          </a:prstGeom>
          <a:solidFill>
            <a:srgbClr val="F7F6F2"/>
          </a:solidFill>
          <a:ln w="15875">
            <a:solidFill>
              <a:srgbClr val="C42A1C"/>
            </a:solidFill>
            <a:prstDash val="solid"/>
          </a:ln>
        </p:spPr>
      </p:sp>
      <p:sp>
        <p:nvSpPr>
          <p:cNvPr id="27" name="Text 25"/>
          <p:cNvSpPr/>
          <p:nvPr/>
        </p:nvSpPr>
        <p:spPr>
          <a:xfrm>
            <a:off x="548640" y="3172968"/>
            <a:ext cx="384048" cy="384048"/>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③</a:t>
            </a:r>
            <a:endParaRPr lang="en-US" sz="1500" dirty="0"/>
          </a:p>
        </p:txBody>
      </p:sp>
      <p:sp>
        <p:nvSpPr>
          <p:cNvPr id="28" name="Text 26"/>
          <p:cNvSpPr/>
          <p:nvPr/>
        </p:nvSpPr>
        <p:spPr>
          <a:xfrm>
            <a:off x="1051560" y="3191256"/>
            <a:ext cx="2377440" cy="347472"/>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INNOVATION</a:t>
            </a:r>
            <a:endParaRPr lang="en-US" sz="1200" dirty="0"/>
          </a:p>
        </p:txBody>
      </p:sp>
      <p:sp>
        <p:nvSpPr>
          <p:cNvPr id="29" name="Text 27"/>
          <p:cNvSpPr/>
          <p:nvPr/>
        </p:nvSpPr>
        <p:spPr>
          <a:xfrm>
            <a:off x="3383280" y="3191256"/>
            <a:ext cx="8229600" cy="347472"/>
          </a:xfrm>
          <a:prstGeom prst="rect">
            <a:avLst/>
          </a:prstGeom>
          <a:noFill/>
          <a:ln/>
        </p:spPr>
        <p:txBody>
          <a:bodyPr wrap="square" lIns="0" tIns="0" rIns="0" bIns="0" rtlCol="0" anchor="ctr"/>
          <a:lstStyle/>
          <a:p>
            <a:pPr indent="0" marL="0">
              <a:buNone/>
            </a:pPr>
            <a:r>
              <a:rPr lang="en-US" sz="1050" dirty="0">
                <a:solidFill>
                  <a:srgbClr val="2E5F84"/>
                </a:solidFill>
                <a:latin typeface="Segoe UI" pitchFamily="34" charset="0"/>
                <a:ea typeface="Segoe UI" pitchFamily="34" charset="-122"/>
                <a:cs typeface="Segoe UI" pitchFamily="34" charset="-120"/>
              </a:rPr>
              <a:t>RAIM-for-vision: observability-conditioned, NEES-validated dual bound</a:t>
            </a:r>
            <a:endParaRPr lang="en-US" sz="1050" dirty="0"/>
          </a:p>
        </p:txBody>
      </p:sp>
      <p:sp>
        <p:nvSpPr>
          <p:cNvPr id="30" name="Shape 28"/>
          <p:cNvSpPr/>
          <p:nvPr/>
        </p:nvSpPr>
        <p:spPr>
          <a:xfrm>
            <a:off x="548640" y="3776472"/>
            <a:ext cx="384048" cy="384048"/>
          </a:xfrm>
          <a:prstGeom prst="rect">
            <a:avLst/>
          </a:prstGeom>
          <a:solidFill>
            <a:srgbClr val="F7F6F2"/>
          </a:solidFill>
          <a:ln w="15875">
            <a:solidFill>
              <a:srgbClr val="C42A1C"/>
            </a:solidFill>
            <a:prstDash val="solid"/>
          </a:ln>
        </p:spPr>
      </p:sp>
      <p:sp>
        <p:nvSpPr>
          <p:cNvPr id="31" name="Text 29"/>
          <p:cNvSpPr/>
          <p:nvPr/>
        </p:nvSpPr>
        <p:spPr>
          <a:xfrm>
            <a:off x="548640" y="3776472"/>
            <a:ext cx="384048" cy="384048"/>
          </a:xfrm>
          <a:prstGeom prst="rect">
            <a:avLst/>
          </a:prstGeom>
          <a:noFill/>
          <a:ln/>
        </p:spPr>
        <p:txBody>
          <a:bodyPr wrap="square" lIns="0" tIns="0" rIns="0" bIns="0" rtlCol="0" anchor="ctr"/>
          <a:lstStyle/>
          <a:p>
            <a:pPr algn="ctr" indent="0" marL="0">
              <a:buNone/>
            </a:pPr>
            <a:r>
              <a:rPr lang="en-US" sz="1500" b="1" dirty="0">
                <a:solidFill>
                  <a:srgbClr val="C42A1C"/>
                </a:solidFill>
                <a:latin typeface="Georgia" pitchFamily="34" charset="0"/>
                <a:ea typeface="Georgia" pitchFamily="34" charset="-122"/>
                <a:cs typeface="Georgia" pitchFamily="34" charset="-120"/>
              </a:rPr>
              <a:t>④</a:t>
            </a:r>
            <a:endParaRPr lang="en-US" sz="1500" dirty="0"/>
          </a:p>
        </p:txBody>
      </p:sp>
      <p:sp>
        <p:nvSpPr>
          <p:cNvPr id="32" name="Text 30"/>
          <p:cNvSpPr/>
          <p:nvPr/>
        </p:nvSpPr>
        <p:spPr>
          <a:xfrm>
            <a:off x="1051560" y="3794760"/>
            <a:ext cx="2377440" cy="347472"/>
          </a:xfrm>
          <a:prstGeom prst="rect">
            <a:avLst/>
          </a:prstGeom>
          <a:noFill/>
          <a:ln/>
        </p:spPr>
        <p:txBody>
          <a:bodyPr wrap="square" lIns="0" tIns="0" rIns="0" bIns="0" rtlCol="0" anchor="ctr"/>
          <a:lstStyle/>
          <a:p>
            <a:pPr indent="0" marL="0">
              <a:buNone/>
            </a:pPr>
            <a:r>
              <a:rPr lang="en-US" sz="1200" b="1" dirty="0">
                <a:solidFill>
                  <a:srgbClr val="1B2A36"/>
                </a:solidFill>
                <a:latin typeface="Segoe UI" pitchFamily="34" charset="0"/>
                <a:ea typeface="Segoe UI" pitchFamily="34" charset="-122"/>
                <a:cs typeface="Segoe UI" pitchFamily="34" charset="-120"/>
              </a:rPr>
              <a:t>IMPLEMENTATION</a:t>
            </a:r>
            <a:endParaRPr lang="en-US" sz="1200" dirty="0"/>
          </a:p>
        </p:txBody>
      </p:sp>
      <p:sp>
        <p:nvSpPr>
          <p:cNvPr id="33" name="Text 31"/>
          <p:cNvSpPr/>
          <p:nvPr/>
        </p:nvSpPr>
        <p:spPr>
          <a:xfrm>
            <a:off x="3383280" y="3794760"/>
            <a:ext cx="8229600" cy="347472"/>
          </a:xfrm>
          <a:prstGeom prst="rect">
            <a:avLst/>
          </a:prstGeom>
          <a:noFill/>
          <a:ln/>
        </p:spPr>
        <p:txBody>
          <a:bodyPr wrap="square" lIns="0" tIns="0" rIns="0" bIns="0" rtlCol="0" anchor="ctr"/>
          <a:lstStyle/>
          <a:p>
            <a:pPr indent="0" marL="0">
              <a:buNone/>
            </a:pPr>
            <a:r>
              <a:rPr lang="en-US" sz="1050" dirty="0">
                <a:solidFill>
                  <a:srgbClr val="2E5F84"/>
                </a:solidFill>
                <a:latin typeface="Segoe UI" pitchFamily="34" charset="0"/>
                <a:ea typeface="Segoe UI" pitchFamily="34" charset="-122"/>
                <a:cs typeface="Segoe UI" pitchFamily="34" charset="-120"/>
              </a:rPr>
              <a:t>public repo; integrity core runs &amp; is tested today</a:t>
            </a:r>
            <a:endParaRPr lang="en-US" sz="1050" dirty="0"/>
          </a:p>
        </p:txBody>
      </p:sp>
      <p:sp>
        <p:nvSpPr>
          <p:cNvPr id="34" name="Shape 32"/>
          <p:cNvSpPr/>
          <p:nvPr/>
        </p:nvSpPr>
        <p:spPr>
          <a:xfrm>
            <a:off x="548640" y="4617720"/>
            <a:ext cx="11091672" cy="777240"/>
          </a:xfrm>
          <a:prstGeom prst="rect">
            <a:avLst/>
          </a:prstGeom>
          <a:solidFill>
            <a:srgbClr val="FFFFFF"/>
          </a:solidFill>
          <a:ln w="15875">
            <a:solidFill>
              <a:srgbClr val="C42A1C"/>
            </a:solidFill>
            <a:prstDash val="solid"/>
          </a:ln>
        </p:spPr>
      </p:sp>
      <p:sp>
        <p:nvSpPr>
          <p:cNvPr id="35" name="Text 33"/>
          <p:cNvSpPr/>
          <p:nvPr/>
        </p:nvSpPr>
        <p:spPr>
          <a:xfrm>
            <a:off x="548640" y="4617720"/>
            <a:ext cx="11091672" cy="777240"/>
          </a:xfrm>
          <a:prstGeom prst="rect">
            <a:avLst/>
          </a:prstGeom>
          <a:noFill/>
          <a:ln/>
        </p:spPr>
        <p:txBody>
          <a:bodyPr wrap="square" lIns="0" tIns="0" rIns="0" bIns="0" rtlCol="0" anchor="ctr"/>
          <a:lstStyle/>
          <a:p>
            <a:pPr algn="ctr" indent="0" marL="0">
              <a:buNone/>
            </a:pPr>
            <a:r>
              <a:rPr lang="en-US" sz="1400" i="1" dirty="0">
                <a:solidFill>
                  <a:srgbClr val="1B2A36"/>
                </a:solidFill>
                <a:latin typeface="Georgia" pitchFamily="34" charset="0"/>
                <a:ea typeface="Georgia" pitchFamily="34" charset="-122"/>
                <a:cs typeface="Georgia" pitchFamily="34" charset="-120"/>
              </a:rPr>
              <a:t>“When the camera dies, our drift bound still covers the true position 95%+ of the time — and we know within half a second.”</a:t>
            </a:r>
            <a:endParaRPr lang="en-US" sz="1400" dirty="0"/>
          </a:p>
        </p:txBody>
      </p:sp>
      <p:sp>
        <p:nvSpPr>
          <p:cNvPr id="36" name="Text 34"/>
          <p:cNvSpPr/>
          <p:nvPr/>
        </p:nvSpPr>
        <p:spPr>
          <a:xfrm>
            <a:off x="548640" y="5623560"/>
            <a:ext cx="11064240" cy="365760"/>
          </a:xfrm>
          <a:prstGeom prst="rect">
            <a:avLst/>
          </a:prstGeom>
          <a:noFill/>
          <a:ln/>
        </p:spPr>
        <p:txBody>
          <a:bodyPr wrap="square" lIns="0" tIns="0" rIns="0" bIns="0" rtlCol="0" anchor="ctr"/>
          <a:lstStyle/>
          <a:p>
            <a:pPr indent="0" marL="0">
              <a:lnSpc>
                <a:spcPts val="1300"/>
              </a:lnSpc>
              <a:buNone/>
            </a:pPr>
            <a:r>
              <a:rPr lang="en-US" sz="950" dirty="0">
                <a:solidFill>
                  <a:srgbClr val="7E8A93"/>
                </a:solidFill>
                <a:latin typeface="Consolas" pitchFamily="34" charset="0"/>
                <a:ea typeface="Consolas" pitchFamily="34" charset="-122"/>
                <a:cs typeface="Consolas" pitchFamily="34" charset="-120"/>
              </a:rPr>
              <a:t>REPO  </a:t>
            </a:r>
            <a:pPr indent="0" marL="0">
              <a:lnSpc>
                <a:spcPts val="1300"/>
              </a:lnSpc>
              <a:buNone/>
            </a:pPr>
            <a:r>
              <a:rPr lang="en-US" sz="950" b="1" dirty="0">
                <a:solidFill>
                  <a:srgbClr val="1B2A36"/>
                </a:solidFill>
                <a:latin typeface="Consolas" pitchFamily="34" charset="0"/>
                <a:ea typeface="Consolas" pitchFamily="34" charset="-122"/>
                <a:cs typeface="Consolas" pitchFamily="34" charset="-120"/>
              </a:rPr>
              <a:t>github.com/TheClazer/A.E.T.H.E.R</a:t>
            </a:r>
            <a:pPr indent="0" marL="0">
              <a:lnSpc>
                <a:spcPts val="1300"/>
              </a:lnSpc>
              <a:buNone/>
            </a:pPr>
            <a:r>
              <a:rPr lang="en-US" sz="950" dirty="0">
                <a:solidFill>
                  <a:srgbClr val="7E8A93"/>
                </a:solidFill>
                <a:latin typeface="Consolas" pitchFamily="34" charset="0"/>
                <a:ea typeface="Consolas" pitchFamily="34" charset="-122"/>
                <a:cs typeface="Consolas" pitchFamily="34" charset="-120"/>
              </a:rPr>
              <a:t>      DELIVERABLES  </a:t>
            </a:r>
            <a:pPr indent="0" marL="0">
              <a:lnSpc>
                <a:spcPts val="1300"/>
              </a:lnSpc>
              <a:buNone/>
            </a:pPr>
            <a:r>
              <a:rPr lang="en-US" sz="950" dirty="0">
                <a:solidFill>
                  <a:srgbClr val="1B2A36"/>
                </a:solidFill>
                <a:latin typeface="Consolas" pitchFamily="34" charset="0"/>
                <a:ea typeface="Consolas" pitchFamily="34" charset="-122"/>
                <a:cs typeface="Consolas" pitchFamily="34" charset="-120"/>
              </a:rPr>
              <a:t>working repo · runnable integrity demo · 24-pg bible · manual-steps · this deck</a:t>
            </a:r>
            <a:endParaRPr lang="en-US" sz="950" dirty="0"/>
          </a:p>
        </p:txBody>
      </p:sp>
      <p:sp>
        <p:nvSpPr>
          <p:cNvPr id="37" name="Text 35"/>
          <p:cNvSpPr/>
          <p:nvPr/>
        </p:nvSpPr>
        <p:spPr>
          <a:xfrm>
            <a:off x="548640" y="6053328"/>
            <a:ext cx="10972800" cy="274320"/>
          </a:xfrm>
          <a:prstGeom prst="rect">
            <a:avLst/>
          </a:prstGeom>
          <a:noFill/>
          <a:ln/>
        </p:spPr>
        <p:txBody>
          <a:bodyPr wrap="square" lIns="0" tIns="0" rIns="0" bIns="0" rtlCol="0" anchor="ctr"/>
          <a:lstStyle/>
          <a:p>
            <a:pPr indent="0" marL="0">
              <a:buNone/>
            </a:pPr>
            <a:r>
              <a:rPr lang="en-US" sz="1050" i="1" dirty="0">
                <a:solidFill>
                  <a:srgbClr val="2E5F84"/>
                </a:solidFill>
                <a:latin typeface="Segoe UI" pitchFamily="34" charset="0"/>
                <a:ea typeface="Segoe UI" pitchFamily="34" charset="-122"/>
                <a:cs typeface="Segoe UI" pitchFamily="34" charset="-120"/>
              </a:rPr>
              <a:t>Honeywell Design-A-Thon RVCE 2026 · Problem DP7 · Rayyan &amp; Ashitha</a:t>
            </a:r>
            <a:endParaRPr lang="en-US" sz="1050" dirty="0"/>
          </a:p>
        </p:txBody>
      </p:sp>
      <p:sp>
        <p:nvSpPr>
          <p:cNvPr id="38" name="Shape 36"/>
          <p:cNvSpPr/>
          <p:nvPr/>
        </p:nvSpPr>
        <p:spPr>
          <a:xfrm>
            <a:off x="502920" y="6400800"/>
            <a:ext cx="11183112" cy="0"/>
          </a:xfrm>
          <a:prstGeom prst="line">
            <a:avLst/>
          </a:prstGeom>
          <a:noFill/>
          <a:ln w="9525">
            <a:solidFill>
              <a:srgbClr val="D7DDE2"/>
            </a:solidFill>
            <a:prstDash val="solid"/>
          </a:ln>
        </p:spPr>
      </p:sp>
      <p:sp>
        <p:nvSpPr>
          <p:cNvPr id="39" name="Text 37"/>
          <p:cNvSpPr/>
          <p:nvPr/>
        </p:nvSpPr>
        <p:spPr>
          <a:xfrm>
            <a:off x="502920" y="6437376"/>
            <a:ext cx="7315200" cy="237744"/>
          </a:xfrm>
          <a:prstGeom prst="rect">
            <a:avLst/>
          </a:prstGeom>
          <a:noFill/>
          <a:ln/>
        </p:spPr>
        <p:txBody>
          <a:bodyPr wrap="square" lIns="0" tIns="0" rIns="0" bIns="0" rtlCol="0" anchor="ctr"/>
          <a:lstStyle/>
          <a:p>
            <a:pPr indent="0" marL="0">
              <a:buNone/>
            </a:pPr>
            <a:r>
              <a:rPr lang="en-US" sz="800" dirty="0">
                <a:solidFill>
                  <a:srgbClr val="7E8A93"/>
                </a:solidFill>
                <a:latin typeface="Consolas" pitchFamily="34" charset="0"/>
                <a:ea typeface="Consolas" pitchFamily="34" charset="-122"/>
                <a:cs typeface="Consolas" pitchFamily="34" charset="-120"/>
              </a:rPr>
              <a:t>A.E.T.H.E.R · DESIGN-A-THON DP7 · FINAL SUBMISSION · pg 10/10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A.E.T.H.E.R — Design-A-Thon DP7 Final Submission</dc:title>
  <dc:subject>PptxGenJS Presentation</dc:subject>
  <dc:creator>Rayyan &amp; Ashitha</dc:creator>
  <cp:lastModifiedBy>Rayyan &amp; Ashitha</cp:lastModifiedBy>
  <cp:revision>1</cp:revision>
  <dcterms:created xsi:type="dcterms:W3CDTF">2026-06-10T10:47:04Z</dcterms:created>
  <dcterms:modified xsi:type="dcterms:W3CDTF">2026-06-10T10:47:04Z</dcterms:modified>
</cp:coreProperties>
</file>